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4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5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ags/tag7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ags/tag8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ags/tag9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ags/tag10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ags/tag11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ags/tag12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2.xml" ContentType="application/vnd.openxmlformats-officedocument.presentationml.notesSlid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notesSlides/notesSlide23.xml" ContentType="application/vnd.openxmlformats-officedocument.presentationml.notesSlid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24.xml" ContentType="application/vnd.openxmlformats-officedocument.presentationml.notesSlid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notesSlides/notesSlide25.xml" ContentType="application/vnd.openxmlformats-officedocument.presentationml.notesSlid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7"/>
  </p:notesMasterIdLst>
  <p:handoutMasterIdLst>
    <p:handoutMasterId r:id="rId28"/>
  </p:handoutMasterIdLst>
  <p:sldIdLst>
    <p:sldId id="4207" r:id="rId2"/>
    <p:sldId id="4208" r:id="rId3"/>
    <p:sldId id="4209" r:id="rId4"/>
    <p:sldId id="4210" r:id="rId5"/>
    <p:sldId id="4211" r:id="rId6"/>
    <p:sldId id="4212" r:id="rId7"/>
    <p:sldId id="4184" r:id="rId8"/>
    <p:sldId id="4185" r:id="rId9"/>
    <p:sldId id="4186" r:id="rId10"/>
    <p:sldId id="4187" r:id="rId11"/>
    <p:sldId id="4188" r:id="rId12"/>
    <p:sldId id="4189" r:id="rId13"/>
    <p:sldId id="4190" r:id="rId14"/>
    <p:sldId id="4191" r:id="rId15"/>
    <p:sldId id="4192" r:id="rId16"/>
    <p:sldId id="4148" r:id="rId17"/>
    <p:sldId id="4167" r:id="rId18"/>
    <p:sldId id="4149" r:id="rId19"/>
    <p:sldId id="4168" r:id="rId20"/>
    <p:sldId id="4150" r:id="rId21"/>
    <p:sldId id="4169" r:id="rId22"/>
    <p:sldId id="4177" r:id="rId23"/>
    <p:sldId id="4171" r:id="rId24"/>
    <p:sldId id="4214" r:id="rId25"/>
    <p:sldId id="4206" r:id="rId26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0FF"/>
    <a:srgbClr val="F4B183"/>
    <a:srgbClr val="0059A9"/>
    <a:srgbClr val="4472C4"/>
    <a:srgbClr val="0C4DA1"/>
    <a:srgbClr val="0057A7"/>
    <a:srgbClr val="006600"/>
    <a:srgbClr val="C55A11"/>
    <a:srgbClr val="FFC000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578" autoAdjust="0"/>
  </p:normalViewPr>
  <p:slideViewPr>
    <p:cSldViewPr snapToGrid="0">
      <p:cViewPr varScale="1">
        <p:scale>
          <a:sx n="108" d="100"/>
          <a:sy n="108" d="100"/>
        </p:scale>
        <p:origin x="19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4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473787205257055"/>
          <c:y val="0.11370727749086473"/>
          <c:w val="0.79854476306807942"/>
          <c:h val="0.7950843398336201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비가동 현황</c:v>
                </c:pt>
              </c:strCache>
            </c:strRef>
          </c:tx>
          <c:spPr>
            <a:ln w="31750" cap="rnd">
              <a:solidFill>
                <a:srgbClr val="0920FF"/>
              </a:solidFill>
              <a:round/>
              <a:tailEnd type="oval"/>
            </a:ln>
            <a:effectLst/>
          </c:spPr>
          <c:marker>
            <c:symbol val="none"/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88027</c:v>
                </c:pt>
                <c:pt idx="1">
                  <c:v>82668</c:v>
                </c:pt>
                <c:pt idx="2">
                  <c:v>68522</c:v>
                </c:pt>
                <c:pt idx="3">
                  <c:v>85208</c:v>
                </c:pt>
                <c:pt idx="4">
                  <c:v>75312</c:v>
                </c:pt>
                <c:pt idx="5">
                  <c:v>57685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09-4B3B-B6E8-EB52A9F0D5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5059504"/>
        <c:axId val="563172320"/>
      </c:lineChart>
      <c:catAx>
        <c:axId val="28505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3172320"/>
        <c:crosses val="autoZero"/>
        <c:auto val="1"/>
        <c:lblAlgn val="ctr"/>
        <c:lblOffset val="100"/>
        <c:noMultiLvlLbl val="0"/>
      </c:catAx>
      <c:valAx>
        <c:axId val="563172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t" anchorCtr="0"/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1100" b="1" dirty="0">
                    <a:solidFill>
                      <a:schemeClr val="tx1"/>
                    </a:solidFill>
                  </a:rPr>
                  <a:t>단위 </a:t>
                </a:r>
                <a:r>
                  <a:rPr lang="en-US" altLang="ko-KR" sz="1100" b="1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1100" b="1" baseline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100" b="1" baseline="0" dirty="0">
                    <a:solidFill>
                      <a:schemeClr val="tx1"/>
                    </a:solidFill>
                  </a:rPr>
                  <a:t>분 </a:t>
                </a:r>
                <a:r>
                  <a:rPr lang="en-US" altLang="ko-KR" sz="1100" b="1" baseline="0" dirty="0">
                    <a:solidFill>
                      <a:schemeClr val="tx1"/>
                    </a:solidFill>
                  </a:rPr>
                  <a:t>) </a:t>
                </a:r>
                <a:endParaRPr lang="ko-KR" altLang="en-US" sz="1100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8.35919437536011E-2"/>
              <c:y val="2.092143276570757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t" anchorCtr="0"/>
            <a:lstStyle/>
            <a:p>
              <a:pPr>
                <a:defRPr sz="11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5059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pPr>
            <a:r>
              <a:rPr lang="ko-KR" altLang="en-US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비가동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현황 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(min)</a:t>
            </a:r>
          </a:p>
        </c:rich>
      </c:tx>
      <c:layout>
        <c:manualLayout>
          <c:xMode val="edge"/>
          <c:yMode val="edge"/>
          <c:x val="0.3217324136409002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2166916097606152"/>
          <c:y val="0.19790369604346372"/>
          <c:w val="0.86929666994750654"/>
          <c:h val="0.58017729198670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4월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금형교체</c:v>
                </c:pt>
                <c:pt idx="1">
                  <c:v>금형세척</c:v>
                </c:pt>
                <c:pt idx="2">
                  <c:v>설비이상</c:v>
                </c:pt>
                <c:pt idx="3">
                  <c:v>고무이상</c:v>
                </c:pt>
                <c:pt idx="4">
                  <c:v>근태변경</c:v>
                </c:pt>
                <c:pt idx="5">
                  <c:v>제품이상</c:v>
                </c:pt>
                <c:pt idx="6">
                  <c:v>현장/설비청소</c:v>
                </c:pt>
                <c:pt idx="7">
                  <c:v>작업휴식</c:v>
                </c:pt>
                <c:pt idx="8">
                  <c:v>현장교육</c:v>
                </c:pt>
                <c:pt idx="9">
                  <c:v>공정감사</c:v>
                </c:pt>
              </c:strCache>
            </c:strRef>
          </c:cat>
          <c:val>
            <c:numRef>
              <c:f>Sheet1!$F$2:$F$11</c:f>
              <c:numCache>
                <c:formatCode>#,##0_);[Red]\(#,##0\)</c:formatCode>
                <c:ptCount val="10"/>
                <c:pt idx="0">
                  <c:v>17559</c:v>
                </c:pt>
                <c:pt idx="1">
                  <c:v>1925.0000000000005</c:v>
                </c:pt>
                <c:pt idx="2">
                  <c:v>7425</c:v>
                </c:pt>
                <c:pt idx="3">
                  <c:v>6617.0000000000009</c:v>
                </c:pt>
                <c:pt idx="4">
                  <c:v>33670</c:v>
                </c:pt>
                <c:pt idx="5">
                  <c:v>1810.0000000000002</c:v>
                </c:pt>
                <c:pt idx="6">
                  <c:v>5795.9999999999991</c:v>
                </c:pt>
                <c:pt idx="7">
                  <c:v>0</c:v>
                </c:pt>
                <c:pt idx="8">
                  <c:v>0</c:v>
                </c:pt>
                <c:pt idx="9">
                  <c:v>509.99999999999983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C6-49E1-A28F-AC9F398815A4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5월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금형교체</c:v>
                </c:pt>
                <c:pt idx="1">
                  <c:v>금형세척</c:v>
                </c:pt>
                <c:pt idx="2">
                  <c:v>설비이상</c:v>
                </c:pt>
                <c:pt idx="3">
                  <c:v>고무이상</c:v>
                </c:pt>
                <c:pt idx="4">
                  <c:v>근태변경</c:v>
                </c:pt>
                <c:pt idx="5">
                  <c:v>제품이상</c:v>
                </c:pt>
                <c:pt idx="6">
                  <c:v>현장/설비청소</c:v>
                </c:pt>
                <c:pt idx="7">
                  <c:v>작업휴식</c:v>
                </c:pt>
                <c:pt idx="8">
                  <c:v>현장교육</c:v>
                </c:pt>
                <c:pt idx="9">
                  <c:v>공정감사</c:v>
                </c:pt>
              </c:strCache>
            </c:strRef>
          </c:cat>
          <c:val>
            <c:numRef>
              <c:f>Sheet1!$G$2:$G$11</c:f>
              <c:numCache>
                <c:formatCode>#,##0_);[Red]\(#,##0\)</c:formatCode>
                <c:ptCount val="10"/>
                <c:pt idx="0">
                  <c:v>14594</c:v>
                </c:pt>
                <c:pt idx="1">
                  <c:v>1694</c:v>
                </c:pt>
                <c:pt idx="2">
                  <c:v>10274</c:v>
                </c:pt>
                <c:pt idx="3">
                  <c:v>3060</c:v>
                </c:pt>
                <c:pt idx="4">
                  <c:v>25920</c:v>
                </c:pt>
                <c:pt idx="5">
                  <c:v>1643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49-498B-83A7-226EF48C0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9"/>
        <c:axId val="286221296"/>
        <c:axId val="286220904"/>
      </c:barChart>
      <c:catAx>
        <c:axId val="28622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6220904"/>
        <c:crosses val="autoZero"/>
        <c:auto val="1"/>
        <c:lblAlgn val="ctr"/>
        <c:lblOffset val="100"/>
        <c:noMultiLvlLbl val="0"/>
      </c:catAx>
      <c:valAx>
        <c:axId val="286220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6221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solidFill>
            <a:schemeClr val="bg1">
              <a:lumMod val="50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45527619957551"/>
          <c:y val="9.2826633634704808E-2"/>
          <c:w val="0.79854476306807942"/>
          <c:h val="0.7950843398336201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비가동 현황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3BE7-42D1-A363-5DB941BECF2D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7DA7-4AD4-8C4D-7D9293FE1329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8D0-46BB-BB11-29F267A125EE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752-4434-B867-4A81F53E13D0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752-4434-B867-4A81F53E13D0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9752-4434-B867-4A81F53E13D0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22C-42E2-914F-EF07931212B1}"/>
              </c:ext>
            </c:extLst>
          </c:dPt>
          <c:dPt>
            <c:idx val="10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165F-4917-AEF6-750D0AAB3F82}"/>
              </c:ext>
            </c:extLst>
          </c:dPt>
          <c:dPt>
            <c:idx val="11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00B05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A-6639-4BFC-B01E-1FD2B35929B0}"/>
              </c:ext>
            </c:extLst>
          </c:dPt>
          <c:dPt>
            <c:idx val="12"/>
            <c:marker>
              <c:symbol val="circle"/>
              <c:size val="5"/>
              <c:spPr>
                <a:solidFill>
                  <a:srgbClr val="00B050"/>
                </a:solidFill>
                <a:ln w="9525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D451-4F11-9ABE-38069CA37A8A}"/>
              </c:ext>
            </c:extLst>
          </c:dPt>
          <c:dLbls>
            <c:dLbl>
              <c:idx val="2"/>
              <c:layout>
                <c:manualLayout>
                  <c:x val="-3.5092803458511769E-2"/>
                  <c:y val="-2.753175151532144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833-4988-A866-09571A89F22E}"/>
                </c:ext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 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14107</c:v>
                </c:pt>
                <c:pt idx="1">
                  <c:v>14211</c:v>
                </c:pt>
                <c:pt idx="2">
                  <c:v>16083</c:v>
                </c:pt>
                <c:pt idx="3">
                  <c:v>18033</c:v>
                </c:pt>
                <c:pt idx="4">
                  <c:v>13028</c:v>
                </c:pt>
                <c:pt idx="5">
                  <c:v>11282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09-4B3B-B6E8-EB52A9F0D5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7573240"/>
        <c:axId val="287572848"/>
      </c:lineChart>
      <c:catAx>
        <c:axId val="287573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7572848"/>
        <c:crosses val="autoZero"/>
        <c:auto val="1"/>
        <c:lblAlgn val="ctr"/>
        <c:lblOffset val="100"/>
        <c:noMultiLvlLbl val="0"/>
      </c:catAx>
      <c:valAx>
        <c:axId val="287572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t" anchorCtr="0"/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1100" b="1" dirty="0">
                    <a:solidFill>
                      <a:schemeClr val="tx1"/>
                    </a:solidFill>
                  </a:rPr>
                  <a:t>단위 </a:t>
                </a:r>
                <a:r>
                  <a:rPr lang="en-US" altLang="ko-KR" sz="1100" b="1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1100" b="1" baseline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100" b="1" baseline="0" dirty="0">
                    <a:solidFill>
                      <a:schemeClr val="tx1"/>
                    </a:solidFill>
                  </a:rPr>
                  <a:t>분 </a:t>
                </a:r>
                <a:r>
                  <a:rPr lang="en-US" altLang="ko-KR" sz="1100" b="1" baseline="0" dirty="0">
                    <a:solidFill>
                      <a:schemeClr val="tx1"/>
                    </a:solidFill>
                  </a:rPr>
                  <a:t>) </a:t>
                </a:r>
                <a:endParaRPr lang="ko-KR" altLang="en-US" sz="1100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10385381187505016"/>
              <c:y val="2.092143276570757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t" anchorCtr="0"/>
            <a:lstStyle/>
            <a:p>
              <a:pPr>
                <a:defRPr sz="11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7573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pPr>
            <a:r>
              <a:rPr lang="ko-KR" altLang="en-US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비가동</a:t>
            </a: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현황 </a:t>
            </a:r>
            <a:r>
              <a:rPr lang="en-US" altLang="ko-KR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(min)</a:t>
            </a:r>
          </a:p>
        </c:rich>
      </c:tx>
      <c:layout>
        <c:manualLayout>
          <c:xMode val="edge"/>
          <c:yMode val="edge"/>
          <c:x val="0.3217324136409002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649128009797267"/>
          <c:y val="0.20063869843174531"/>
          <c:w val="0.86929666994750654"/>
          <c:h val="0.58017729198670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4월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금형교체</c:v>
                </c:pt>
                <c:pt idx="1">
                  <c:v>금형세척</c:v>
                </c:pt>
                <c:pt idx="2">
                  <c:v>설비이상</c:v>
                </c:pt>
                <c:pt idx="3">
                  <c:v>고무이상</c:v>
                </c:pt>
                <c:pt idx="4">
                  <c:v>근태변경</c:v>
                </c:pt>
                <c:pt idx="5">
                  <c:v>제품이상</c:v>
                </c:pt>
                <c:pt idx="6">
                  <c:v>현장/설비청소</c:v>
                </c:pt>
                <c:pt idx="7">
                  <c:v>작업휴식</c:v>
                </c:pt>
                <c:pt idx="8">
                  <c:v>현장교육</c:v>
                </c:pt>
                <c:pt idx="9">
                  <c:v>공정감사</c:v>
                </c:pt>
              </c:strCache>
            </c:strRef>
          </c:cat>
          <c:val>
            <c:numRef>
              <c:f>Sheet1!$F$2:$F$11</c:f>
              <c:numCache>
                <c:formatCode>#,##0_);[Red]\(#,##0\)</c:formatCode>
                <c:ptCount val="10"/>
                <c:pt idx="0">
                  <c:v>2560.9999999999991</c:v>
                </c:pt>
                <c:pt idx="1">
                  <c:v>299.99999999999977</c:v>
                </c:pt>
                <c:pt idx="2">
                  <c:v>544.99999999999977</c:v>
                </c:pt>
                <c:pt idx="3">
                  <c:v>1517.0000000000002</c:v>
                </c:pt>
                <c:pt idx="4">
                  <c:v>7785</c:v>
                </c:pt>
                <c:pt idx="5">
                  <c:v>60.000000000000107</c:v>
                </c:pt>
                <c:pt idx="6">
                  <c:v>0</c:v>
                </c:pt>
                <c:pt idx="7">
                  <c:v>0</c:v>
                </c:pt>
                <c:pt idx="8">
                  <c:v>259.9999999999992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C6-49E1-A28F-AC9F398815A4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5월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금형교체</c:v>
                </c:pt>
                <c:pt idx="1">
                  <c:v>금형세척</c:v>
                </c:pt>
                <c:pt idx="2">
                  <c:v>설비이상</c:v>
                </c:pt>
                <c:pt idx="3">
                  <c:v>고무이상</c:v>
                </c:pt>
                <c:pt idx="4">
                  <c:v>근태변경</c:v>
                </c:pt>
                <c:pt idx="5">
                  <c:v>제품이상</c:v>
                </c:pt>
                <c:pt idx="6">
                  <c:v>현장/설비청소</c:v>
                </c:pt>
                <c:pt idx="7">
                  <c:v>작업휴식</c:v>
                </c:pt>
                <c:pt idx="8">
                  <c:v>현장교육</c:v>
                </c:pt>
                <c:pt idx="9">
                  <c:v>공정감사</c:v>
                </c:pt>
              </c:strCache>
            </c:strRef>
          </c:cat>
          <c:val>
            <c:numRef>
              <c:f>Sheet1!$G$2:$G$11</c:f>
              <c:numCache>
                <c:formatCode>#,##0_);[Red]\(#,##0\)</c:formatCode>
                <c:ptCount val="10"/>
                <c:pt idx="0">
                  <c:v>2921.9999999999991</c:v>
                </c:pt>
                <c:pt idx="1">
                  <c:v>65.000000000000114</c:v>
                </c:pt>
                <c:pt idx="2">
                  <c:v>975.00000000000034</c:v>
                </c:pt>
                <c:pt idx="3">
                  <c:v>1205.0000000000002</c:v>
                </c:pt>
                <c:pt idx="4">
                  <c:v>4860</c:v>
                </c:pt>
                <c:pt idx="5">
                  <c:v>1155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99.999999999999886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49-498B-83A7-226EF48C0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9"/>
        <c:axId val="250267256"/>
        <c:axId val="250267648"/>
      </c:barChart>
      <c:catAx>
        <c:axId val="250267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50267648"/>
        <c:crosses val="autoZero"/>
        <c:auto val="1"/>
        <c:lblAlgn val="ctr"/>
        <c:lblOffset val="100"/>
        <c:noMultiLvlLbl val="0"/>
      </c:catAx>
      <c:valAx>
        <c:axId val="250267648"/>
        <c:scaling>
          <c:orientation val="minMax"/>
          <c:max val="15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50267256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26899951403425"/>
          <c:y val="0.11123333936869435"/>
          <c:w val="0.81653587793051297"/>
          <c:h val="0.629177316349125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A36C-4F15-B5F3-4205210118C4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A36C-4F15-B5F3-4205210118C4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A36C-4F15-B5F3-4205210118C4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5-A36C-4F15-B5F3-4205210118C4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6-A36C-4F15-B5F3-4205210118C4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7-A36C-4F15-B5F3-4205210118C4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8-A36C-4F15-B5F3-4205210118C4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9-A36C-4F15-B5F3-4205210118C4}"/>
              </c:ext>
            </c:extLst>
          </c:dPt>
          <c:dPt>
            <c:idx val="1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A-A36C-4F15-B5F3-4205210118C4}"/>
              </c:ext>
            </c:extLst>
          </c:dPt>
          <c:dPt>
            <c:idx val="1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B-A36C-4F15-B5F3-4205210118C4}"/>
              </c:ext>
            </c:extLst>
          </c:dPt>
          <c:dPt>
            <c:idx val="1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C-A36C-4F15-B5F3-4205210118C4}"/>
              </c:ext>
            </c:extLst>
          </c:dPt>
          <c:dPt>
            <c:idx val="1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D-A36C-4F15-B5F3-4205210118C4}"/>
              </c:ext>
            </c:extLst>
          </c:dPt>
          <c:dPt>
            <c:idx val="1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E-A36C-4F15-B5F3-4205210118C4}"/>
              </c:ext>
            </c:extLst>
          </c:dPt>
          <c:dPt>
            <c:idx val="1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F-A36C-4F15-B5F3-4205210118C4}"/>
              </c:ext>
            </c:extLst>
          </c:dPt>
          <c:dPt>
            <c:idx val="1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0-A36C-4F15-B5F3-4205210118C4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1-A36C-4F15-B5F3-4205210118C4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2-A36C-4F15-B5F3-4205210118C4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3-A36C-4F15-B5F3-4205210118C4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4-A36C-4F15-B5F3-4205210118C4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5-A36C-4F15-B5F3-4205210118C4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6-A36C-4F15-B5F3-4205210118C4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7-A36C-4F15-B5F3-4205210118C4}"/>
              </c:ext>
            </c:extLst>
          </c:dPt>
          <c:dPt>
            <c:idx val="2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6-0497-4DE5-BFD2-0CD760F548A8}"/>
              </c:ext>
            </c:extLst>
          </c:dPt>
          <c:dPt>
            <c:idx val="2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7-0497-4DE5-BFD2-0CD760F548A8}"/>
              </c:ext>
            </c:extLst>
          </c:dPt>
          <c:cat>
            <c:numRef>
              <c:f>Sheet1!$A$2:$A$32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Sheet1!$B$2:$B$32</c:f>
              <c:numCache>
                <c:formatCode>_(* #,##0_);_(* \(#,##0\);_(* "-"_);_(@_)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59564102.200000018</c:v>
                </c:pt>
                <c:pt idx="3">
                  <c:v>51220772.200000003</c:v>
                </c:pt>
                <c:pt idx="4">
                  <c:v>55744470.599999994</c:v>
                </c:pt>
                <c:pt idx="5">
                  <c:v>53373895.799999997</c:v>
                </c:pt>
                <c:pt idx="6">
                  <c:v>52601698.000000007</c:v>
                </c:pt>
                <c:pt idx="7">
                  <c:v>49886399.000000015</c:v>
                </c:pt>
                <c:pt idx="8">
                  <c:v>46280810.640000008</c:v>
                </c:pt>
                <c:pt idx="9">
                  <c:v>19776217.800000008</c:v>
                </c:pt>
                <c:pt idx="10">
                  <c:v>51743369.320000008</c:v>
                </c:pt>
                <c:pt idx="11">
                  <c:v>54429913.160000011</c:v>
                </c:pt>
                <c:pt idx="12">
                  <c:v>57058165.040000007</c:v>
                </c:pt>
                <c:pt idx="13">
                  <c:v>54660512.620000005</c:v>
                </c:pt>
                <c:pt idx="14">
                  <c:v>56543800.20000001</c:v>
                </c:pt>
                <c:pt idx="15">
                  <c:v>58929605.300000012</c:v>
                </c:pt>
                <c:pt idx="16">
                  <c:v>34170256.5</c:v>
                </c:pt>
                <c:pt idx="17">
                  <c:v>57315363.20000001</c:v>
                </c:pt>
                <c:pt idx="18">
                  <c:v>57200247.699999988</c:v>
                </c:pt>
                <c:pt idx="19">
                  <c:v>55770102.600000009</c:v>
                </c:pt>
                <c:pt idx="20">
                  <c:v>57101431.399999984</c:v>
                </c:pt>
                <c:pt idx="21">
                  <c:v>56687175.300000004</c:v>
                </c:pt>
                <c:pt idx="22">
                  <c:v>56839386.860000007</c:v>
                </c:pt>
                <c:pt idx="23">
                  <c:v>3197324.8</c:v>
                </c:pt>
                <c:pt idx="24">
                  <c:v>49867733.20000001</c:v>
                </c:pt>
                <c:pt idx="25">
                  <c:v>52780806.88000001</c:v>
                </c:pt>
                <c:pt idx="26">
                  <c:v>55001764.719999999</c:v>
                </c:pt>
                <c:pt idx="27">
                  <c:v>58728178.859999999</c:v>
                </c:pt>
                <c:pt idx="28">
                  <c:v>52938448.900000006</c:v>
                </c:pt>
                <c:pt idx="29">
                  <c:v>51818489.199999996</c:v>
                </c:pt>
                <c:pt idx="30">
                  <c:v>27191267.800000001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E-A36C-4F15-B5F3-4205210118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0268824"/>
        <c:axId val="25026921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생산수량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0-A36C-4F15-B5F3-4205210118C4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1-A36C-4F15-B5F3-4205210118C4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2-A36C-4F15-B5F3-4205210118C4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B-0497-4DE5-BFD2-0CD760F548A8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C-0497-4DE5-BFD2-0CD760F548A8}"/>
              </c:ext>
            </c:extLst>
          </c:dPt>
          <c:dPt>
            <c:idx val="1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D-0497-4DE5-BFD2-0CD760F548A8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E-0497-4DE5-BFD2-0CD760F548A8}"/>
              </c:ext>
            </c:extLst>
          </c:dPt>
          <c:dPt>
            <c:idx val="2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F-0497-4DE5-BFD2-0CD760F548A8}"/>
              </c:ext>
            </c:extLst>
          </c:dPt>
          <c:cat>
            <c:numRef>
              <c:f>Sheet1!$A$2:$A$32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Sheet1!$C$2:$C$32</c:f>
              <c:numCache>
                <c:formatCode>_(* #,##0_);_(* \(#,##0\);_(* "-"_);_(@_)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860258</c:v>
                </c:pt>
                <c:pt idx="3">
                  <c:v>553533</c:v>
                </c:pt>
                <c:pt idx="4">
                  <c:v>529688</c:v>
                </c:pt>
                <c:pt idx="5">
                  <c:v>531163</c:v>
                </c:pt>
                <c:pt idx="6">
                  <c:v>310524</c:v>
                </c:pt>
                <c:pt idx="7">
                  <c:v>242110</c:v>
                </c:pt>
                <c:pt idx="8">
                  <c:v>222584</c:v>
                </c:pt>
                <c:pt idx="9">
                  <c:v>51175</c:v>
                </c:pt>
                <c:pt idx="10">
                  <c:v>248647</c:v>
                </c:pt>
                <c:pt idx="11">
                  <c:v>273382</c:v>
                </c:pt>
                <c:pt idx="12">
                  <c:v>297152</c:v>
                </c:pt>
                <c:pt idx="13">
                  <c:v>261050</c:v>
                </c:pt>
                <c:pt idx="14">
                  <c:v>278356</c:v>
                </c:pt>
                <c:pt idx="15">
                  <c:v>346497</c:v>
                </c:pt>
                <c:pt idx="16">
                  <c:v>256806</c:v>
                </c:pt>
                <c:pt idx="17">
                  <c:v>377512</c:v>
                </c:pt>
                <c:pt idx="18">
                  <c:v>350245</c:v>
                </c:pt>
                <c:pt idx="19">
                  <c:v>391477</c:v>
                </c:pt>
                <c:pt idx="20">
                  <c:v>418268</c:v>
                </c:pt>
                <c:pt idx="21">
                  <c:v>358968</c:v>
                </c:pt>
                <c:pt idx="22">
                  <c:v>303624</c:v>
                </c:pt>
                <c:pt idx="23">
                  <c:v>44930</c:v>
                </c:pt>
                <c:pt idx="24">
                  <c:v>282847</c:v>
                </c:pt>
                <c:pt idx="25">
                  <c:v>299194</c:v>
                </c:pt>
                <c:pt idx="26">
                  <c:v>304311</c:v>
                </c:pt>
                <c:pt idx="27">
                  <c:v>320588</c:v>
                </c:pt>
                <c:pt idx="28">
                  <c:v>293251</c:v>
                </c:pt>
                <c:pt idx="29">
                  <c:v>317716</c:v>
                </c:pt>
                <c:pt idx="30">
                  <c:v>102489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8-A36C-4F15-B5F3-4205210118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0270000"/>
        <c:axId val="250269608"/>
      </c:lineChart>
      <c:catAx>
        <c:axId val="250268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50269216"/>
        <c:crosses val="autoZero"/>
        <c:auto val="1"/>
        <c:lblAlgn val="ctr"/>
        <c:lblOffset val="100"/>
        <c:noMultiLvlLbl val="0"/>
      </c:catAx>
      <c:valAx>
        <c:axId val="250269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50268824"/>
        <c:crosses val="autoZero"/>
        <c:crossBetween val="between"/>
      </c:valAx>
      <c:valAx>
        <c:axId val="250269608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50270000"/>
        <c:crosses val="max"/>
        <c:crossBetween val="between"/>
      </c:valAx>
      <c:catAx>
        <c:axId val="2502700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502696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8745264556398573"/>
          <c:y val="0.86948993080544668"/>
          <c:w val="0.22128457401312879"/>
          <c:h val="0.11335951452256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 baseline="0">
          <a:solidFill>
            <a:schemeClr val="tx1"/>
          </a:solidFill>
          <a:latin typeface="+mn-lt"/>
        </a:defRPr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6342824109890882E-2"/>
          <c:y val="9.8112212096106044E-2"/>
          <c:w val="0.81653587793051297"/>
          <c:h val="0.629177316349125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35D2-445B-B78A-2255E8AC4D43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35D2-445B-B78A-2255E8AC4D43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35D2-445B-B78A-2255E8AC4D43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5-35D2-445B-B78A-2255E8AC4D43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6-35D2-445B-B78A-2255E8AC4D43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7-35D2-445B-B78A-2255E8AC4D43}"/>
              </c:ext>
            </c:extLst>
          </c:dPt>
          <c:dPt>
            <c:idx val="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8-35D2-445B-B78A-2255E8AC4D43}"/>
              </c:ext>
            </c:extLst>
          </c:dPt>
          <c:dPt>
            <c:idx val="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9-35D2-445B-B78A-2255E8AC4D43}"/>
              </c:ext>
            </c:extLst>
          </c:dPt>
          <c:dPt>
            <c:idx val="1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A-35D2-445B-B78A-2255E8AC4D43}"/>
              </c:ext>
            </c:extLst>
          </c:dPt>
          <c:dPt>
            <c:idx val="1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B-35D2-445B-B78A-2255E8AC4D43}"/>
              </c:ext>
            </c:extLst>
          </c:dPt>
          <c:dPt>
            <c:idx val="1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C-35D2-445B-B78A-2255E8AC4D43}"/>
              </c:ext>
            </c:extLst>
          </c:dPt>
          <c:dPt>
            <c:idx val="1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D-35D2-445B-B78A-2255E8AC4D43}"/>
              </c:ext>
            </c:extLst>
          </c:dPt>
          <c:dPt>
            <c:idx val="1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E-35D2-445B-B78A-2255E8AC4D43}"/>
              </c:ext>
            </c:extLst>
          </c:dPt>
          <c:dPt>
            <c:idx val="1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F-35D2-445B-B78A-2255E8AC4D43}"/>
              </c:ext>
            </c:extLst>
          </c:dPt>
          <c:dPt>
            <c:idx val="1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0-35D2-445B-B78A-2255E8AC4D43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1-35D2-445B-B78A-2255E8AC4D43}"/>
              </c:ext>
            </c:extLst>
          </c:dPt>
          <c:dPt>
            <c:idx val="18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2-35D2-445B-B78A-2255E8AC4D43}"/>
              </c:ext>
            </c:extLst>
          </c:dPt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3-35D2-445B-B78A-2255E8AC4D43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4-35D2-445B-B78A-2255E8AC4D43}"/>
              </c:ext>
            </c:extLst>
          </c:dPt>
          <c:dPt>
            <c:idx val="2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5-35D2-445B-B78A-2255E8AC4D43}"/>
              </c:ext>
            </c:extLst>
          </c:dPt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6-35D2-445B-B78A-2255E8AC4D43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7-35D2-445B-B78A-2255E8AC4D43}"/>
              </c:ext>
            </c:extLst>
          </c:dPt>
          <c:dPt>
            <c:idx val="2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8-35D2-445B-B78A-2255E8AC4D43}"/>
              </c:ext>
            </c:extLst>
          </c:dPt>
          <c:dPt>
            <c:idx val="2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7-63AC-4548-8AAF-3D4A3CCB3A3F}"/>
              </c:ext>
            </c:extLst>
          </c:dPt>
          <c:dPt>
            <c:idx val="2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8-63AC-4548-8AAF-3D4A3CCB3A3F}"/>
              </c:ext>
            </c:extLst>
          </c:dPt>
          <c:cat>
            <c:numRef>
              <c:f>Sheet1!$A$2:$A$31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Sheet1!$B$2:$B$31</c:f>
              <c:numCache>
                <c:formatCode>_(* #,##0_);_(* \(#,##0\);_(* "-"_);_(@_)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25311323.129999999</c:v>
                </c:pt>
                <c:pt idx="3">
                  <c:v>24892460.939999998</c:v>
                </c:pt>
                <c:pt idx="4">
                  <c:v>27517360.000000004</c:v>
                </c:pt>
                <c:pt idx="5">
                  <c:v>27444154.07</c:v>
                </c:pt>
                <c:pt idx="6">
                  <c:v>29439442.039999988</c:v>
                </c:pt>
                <c:pt idx="7">
                  <c:v>29122153.539999999</c:v>
                </c:pt>
                <c:pt idx="8">
                  <c:v>30057789.700000003</c:v>
                </c:pt>
                <c:pt idx="9">
                  <c:v>0</c:v>
                </c:pt>
                <c:pt idx="10">
                  <c:v>26233653.949999999</c:v>
                </c:pt>
                <c:pt idx="11">
                  <c:v>26685967.260000002</c:v>
                </c:pt>
                <c:pt idx="12">
                  <c:v>26938760.580000002</c:v>
                </c:pt>
                <c:pt idx="13">
                  <c:v>28284967.759999998</c:v>
                </c:pt>
                <c:pt idx="14">
                  <c:v>27180369.48</c:v>
                </c:pt>
                <c:pt idx="15">
                  <c:v>28359172.579999994</c:v>
                </c:pt>
                <c:pt idx="16">
                  <c:v>27633584.859999996</c:v>
                </c:pt>
                <c:pt idx="17">
                  <c:v>29853099.919999998</c:v>
                </c:pt>
                <c:pt idx="18">
                  <c:v>29418310.480000004</c:v>
                </c:pt>
                <c:pt idx="19">
                  <c:v>28113614.859999996</c:v>
                </c:pt>
                <c:pt idx="20">
                  <c:v>27420916.349999994</c:v>
                </c:pt>
                <c:pt idx="21">
                  <c:v>27322705.609999996</c:v>
                </c:pt>
                <c:pt idx="22">
                  <c:v>27610345.84</c:v>
                </c:pt>
                <c:pt idx="23">
                  <c:v>14044647</c:v>
                </c:pt>
                <c:pt idx="24">
                  <c:v>27991279.519999996</c:v>
                </c:pt>
                <c:pt idx="25">
                  <c:v>28364474.329999991</c:v>
                </c:pt>
                <c:pt idx="26">
                  <c:v>26764352.879999999</c:v>
                </c:pt>
                <c:pt idx="27">
                  <c:v>27524709.679999996</c:v>
                </c:pt>
                <c:pt idx="28">
                  <c:v>32240858.679999996</c:v>
                </c:pt>
                <c:pt idx="29">
                  <c:v>30103066.66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EE-413C-9046-DD486613F7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7574808"/>
        <c:axId val="56587225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생산수량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F-35D2-445B-B78A-2255E8AC4D43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0-35D2-445B-B78A-2255E8AC4D43}"/>
              </c:ext>
            </c:extLst>
          </c:dPt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1-35D2-445B-B78A-2255E8AC4D43}"/>
              </c:ext>
            </c:extLst>
          </c:dPt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C-63AC-4548-8AAF-3D4A3CCB3A3F}"/>
              </c:ext>
            </c:extLst>
          </c:dPt>
          <c:dPt>
            <c:idx val="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D-63AC-4548-8AAF-3D4A3CCB3A3F}"/>
              </c:ext>
            </c:extLst>
          </c:dPt>
          <c:dPt>
            <c:idx val="1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E-63AC-4548-8AAF-3D4A3CCB3A3F}"/>
              </c:ext>
            </c:extLst>
          </c:dPt>
          <c:dPt>
            <c:idx val="1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1F-63AC-4548-8AAF-3D4A3CCB3A3F}"/>
              </c:ext>
            </c:extLst>
          </c:dPt>
          <c:dPt>
            <c:idx val="2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20-63AC-4548-8AAF-3D4A3CCB3A3F}"/>
              </c:ext>
            </c:extLst>
          </c:dPt>
          <c:cat>
            <c:numRef>
              <c:f>Sheet1!$A$2:$A$31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Sheet1!$C$2:$C$31</c:f>
              <c:numCache>
                <c:formatCode>_(* #,##0_);_(* \(#,##0\);_(* "-"_);_(@_)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1960307</c:v>
                </c:pt>
                <c:pt idx="3">
                  <c:v>1924149</c:v>
                </c:pt>
                <c:pt idx="4">
                  <c:v>2026858</c:v>
                </c:pt>
                <c:pt idx="5">
                  <c:v>1997991</c:v>
                </c:pt>
                <c:pt idx="6">
                  <c:v>2130517</c:v>
                </c:pt>
                <c:pt idx="7">
                  <c:v>2007270</c:v>
                </c:pt>
                <c:pt idx="8">
                  <c:v>2250191</c:v>
                </c:pt>
                <c:pt idx="9">
                  <c:v>0</c:v>
                </c:pt>
                <c:pt idx="10">
                  <c:v>1885373</c:v>
                </c:pt>
                <c:pt idx="11">
                  <c:v>1899696</c:v>
                </c:pt>
                <c:pt idx="12">
                  <c:v>1973743</c:v>
                </c:pt>
                <c:pt idx="13">
                  <c:v>2009415</c:v>
                </c:pt>
                <c:pt idx="14">
                  <c:v>1966230</c:v>
                </c:pt>
                <c:pt idx="15">
                  <c:v>2048265</c:v>
                </c:pt>
                <c:pt idx="16">
                  <c:v>1915078</c:v>
                </c:pt>
                <c:pt idx="17">
                  <c:v>1943743</c:v>
                </c:pt>
                <c:pt idx="18">
                  <c:v>1969287</c:v>
                </c:pt>
                <c:pt idx="19">
                  <c:v>1909009</c:v>
                </c:pt>
                <c:pt idx="20">
                  <c:v>1894162</c:v>
                </c:pt>
                <c:pt idx="21">
                  <c:v>1928035</c:v>
                </c:pt>
                <c:pt idx="22">
                  <c:v>2073893</c:v>
                </c:pt>
                <c:pt idx="23">
                  <c:v>1364476</c:v>
                </c:pt>
                <c:pt idx="24">
                  <c:v>2094820</c:v>
                </c:pt>
                <c:pt idx="25">
                  <c:v>2107571</c:v>
                </c:pt>
                <c:pt idx="26">
                  <c:v>2309252</c:v>
                </c:pt>
                <c:pt idx="27">
                  <c:v>2221234</c:v>
                </c:pt>
                <c:pt idx="28">
                  <c:v>2521973</c:v>
                </c:pt>
                <c:pt idx="29">
                  <c:v>2504683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0D-4CDC-B871-9DE64DE7F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5873040"/>
        <c:axId val="565872648"/>
      </c:lineChart>
      <c:catAx>
        <c:axId val="287574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5872256"/>
        <c:crosses val="autoZero"/>
        <c:auto val="1"/>
        <c:lblAlgn val="ctr"/>
        <c:lblOffset val="100"/>
        <c:noMultiLvlLbl val="0"/>
      </c:catAx>
      <c:valAx>
        <c:axId val="565872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7574808"/>
        <c:crosses val="autoZero"/>
        <c:crossBetween val="between"/>
      </c:valAx>
      <c:valAx>
        <c:axId val="565872648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5873040"/>
        <c:crosses val="max"/>
        <c:crossBetween val="between"/>
      </c:valAx>
      <c:catAx>
        <c:axId val="5658730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58726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8745264556398573"/>
          <c:y val="0.86948993080544668"/>
          <c:w val="0.22128457401312879"/>
          <c:h val="0.11335951452256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 baseline="0">
          <a:solidFill>
            <a:schemeClr val="tx1"/>
          </a:solidFill>
          <a:latin typeface="+mn-lt"/>
        </a:defRPr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04875834561009"/>
          <c:y val="0.11129450707110443"/>
          <c:w val="0.76120121348467806"/>
          <c:h val="0.748216971226439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DC87-4192-8430-2291C3C002AD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9A0-4FEA-98BC-AF4750AE770B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907-43B0-B7C4-49186BA2639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4F0-4097-A24E-08A88FF2C68A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4A8-458F-AEFD-9A101EBB6E35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14A8-458F-AEFD-9A101EBB6E35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14A8-458F-AEFD-9A101EBB6E3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14A8-458F-AEFD-9A101EBB6E3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14A8-458F-AEFD-9A101EBB6E3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14A8-458F-AEFD-9A101EBB6E35}"/>
              </c:ext>
            </c:extLst>
          </c:dPt>
          <c:dPt>
            <c:idx val="1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14A8-458F-AEFD-9A101EBB6E35}"/>
              </c:ext>
            </c:extLst>
          </c:dPt>
          <c:dLbls>
            <c:dLbl>
              <c:idx val="2"/>
              <c:layout>
                <c:manualLayout>
                  <c:x val="-2.9409115199548762E-2"/>
                  <c:y val="-8.66209269434825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907-43B0-B7C4-49186BA2639B}"/>
                </c:ext>
              </c:extLst>
            </c:dLbl>
            <c:dLbl>
              <c:idx val="4"/>
              <c:layout>
                <c:manualLayout>
                  <c:x val="-7.3482022844703537E-2"/>
                  <c:y val="-7.1074208851591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A8-458F-AEFD-9A101EBB6E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#,##0_);[Red]\(#,##0\)</c:formatCode>
                <c:ptCount val="13"/>
                <c:pt idx="0">
                  <c:v>1420118235</c:v>
                </c:pt>
                <c:pt idx="1">
                  <c:v>1320199177</c:v>
                </c:pt>
                <c:pt idx="2">
                  <c:v>1048695358</c:v>
                </c:pt>
                <c:pt idx="3" formatCode="_(* #,##0_);_(* \(#,##0\);_(* &quot;-&quot;_);_(@_)">
                  <c:v>1016252119.2800001</c:v>
                </c:pt>
                <c:pt idx="4" formatCode="_(* #,##0_);_(* \(#,##0\);_(* &quot;-&quot;_);_(@_)">
                  <c:v>1432137167.74</c:v>
                </c:pt>
                <c:pt idx="5">
                  <c:v>1448421710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14A8-458F-AEFD-9A101EBB6E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5873824"/>
        <c:axId val="565874216"/>
      </c:lineChart>
      <c:catAx>
        <c:axId val="565873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5874216"/>
        <c:crosses val="autoZero"/>
        <c:auto val="1"/>
        <c:lblAlgn val="ctr"/>
        <c:lblOffset val="100"/>
        <c:noMultiLvlLbl val="0"/>
      </c:catAx>
      <c:valAx>
        <c:axId val="565874216"/>
        <c:scaling>
          <c:orientation val="minMax"/>
          <c:min val="300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b" anchorCtr="0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900" b="1" dirty="0">
                    <a:solidFill>
                      <a:schemeClr val="tx1"/>
                    </a:solidFill>
                  </a:rPr>
                  <a:t>단위 </a:t>
                </a:r>
                <a:r>
                  <a:rPr lang="en-US" altLang="ko-KR" sz="900" b="1" baseline="0" dirty="0">
                    <a:solidFill>
                      <a:schemeClr val="tx1"/>
                    </a:solidFill>
                  </a:rPr>
                  <a:t> (</a:t>
                </a:r>
                <a:r>
                  <a:rPr lang="ko-KR" altLang="en-US" sz="900" b="1" baseline="0" dirty="0">
                    <a:solidFill>
                      <a:schemeClr val="tx1"/>
                    </a:solidFill>
                  </a:rPr>
                  <a:t>천</a:t>
                </a:r>
                <a:r>
                  <a:rPr lang="en-US" altLang="ko-KR" sz="900" b="1" baseline="0" dirty="0">
                    <a:solidFill>
                      <a:schemeClr val="tx1"/>
                    </a:solidFill>
                  </a:rPr>
                  <a:t>)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6.2997048868352487E-2"/>
              <c:y val="2.91290002288922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b" anchorCtr="0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5873824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795831224264219"/>
          <c:y val="3.1624717731174805E-2"/>
          <c:w val="0.76120121348467806"/>
          <c:h val="0.748216971226439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566-4473-8318-9CAE3F275E16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908-4071-A15D-AB14DA0C0D11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651-4B3B-BE23-2EBB05FAEA6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7E2D-49EC-B2E5-9F1010C98365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E2D-49EC-B2E5-9F1010C98365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7E2D-49EC-B2E5-9F1010C98365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7E2D-49EC-B2E5-9F1010C9836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7E2D-49EC-B2E5-9F1010C9836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7E2D-49EC-B2E5-9F1010C9836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E6F6-4D2B-97D4-FD7794CD592D}"/>
              </c:ext>
            </c:extLst>
          </c:dPt>
          <c:dLbls>
            <c:dLbl>
              <c:idx val="2"/>
              <c:layout>
                <c:manualLayout>
                  <c:x val="-2.7709197163056337E-2"/>
                  <c:y val="-9.18031663074463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651-4B3B-BE23-2EBB05FAEA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#,##0_);[Red]\(#,##0\)</c:formatCode>
                <c:ptCount val="13"/>
                <c:pt idx="0">
                  <c:v>772741118</c:v>
                </c:pt>
                <c:pt idx="1">
                  <c:v>960620082</c:v>
                </c:pt>
                <c:pt idx="2">
                  <c:v>744692883</c:v>
                </c:pt>
                <c:pt idx="3" formatCode="_(* #,##0_);_(* \(#,##0\);_(* &quot;-&quot;_);_(@_)">
                  <c:v>593924286.09000015</c:v>
                </c:pt>
                <c:pt idx="4" formatCode="_(* #,##0_);_(* \(#,##0\);_(* &quot;-&quot;_);_(@_)">
                  <c:v>748572696.35000002</c:v>
                </c:pt>
                <c:pt idx="5" formatCode="_(* #,##0_);_(* \(#,##0\);_(* &quot;-&quot;_);_(@_)">
                  <c:v>756530562.40999997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D-4173-9D3A-CEE5E6E6F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5875000"/>
        <c:axId val="565875392"/>
      </c:lineChart>
      <c:catAx>
        <c:axId val="565875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5875392"/>
        <c:crosses val="autoZero"/>
        <c:auto val="1"/>
        <c:lblAlgn val="ctr"/>
        <c:lblOffset val="100"/>
        <c:noMultiLvlLbl val="0"/>
      </c:catAx>
      <c:valAx>
        <c:axId val="565875392"/>
        <c:scaling>
          <c:orientation val="minMax"/>
          <c:min val="400000000"/>
        </c:scaling>
        <c:delete val="0"/>
        <c:axPos val="l"/>
        <c:title>
          <c:tx>
            <c:rich>
              <a:bodyPr rot="0" spcFirstLastPara="1" vertOverflow="ellipsis" wrap="square" anchor="b" anchorCtr="0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900" b="1" dirty="0">
                    <a:solidFill>
                      <a:schemeClr val="tx1"/>
                    </a:solidFill>
                  </a:rPr>
                  <a:t>단위 </a:t>
                </a:r>
                <a:r>
                  <a:rPr lang="en-US" altLang="ko-KR" sz="900" b="1" baseline="0" dirty="0">
                    <a:solidFill>
                      <a:schemeClr val="tx1"/>
                    </a:solidFill>
                  </a:rPr>
                  <a:t> (</a:t>
                </a:r>
                <a:r>
                  <a:rPr lang="ko-KR" altLang="en-US" sz="900" b="1" baseline="0" dirty="0">
                    <a:solidFill>
                      <a:schemeClr val="tx1"/>
                    </a:solidFill>
                  </a:rPr>
                  <a:t>천</a:t>
                </a:r>
                <a:r>
                  <a:rPr lang="en-US" altLang="ko-KR" sz="900" b="1" baseline="0" dirty="0">
                    <a:solidFill>
                      <a:schemeClr val="tx1"/>
                    </a:solidFill>
                  </a:rPr>
                  <a:t>)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6.2997048868352487E-2"/>
              <c:y val="2.91290002288922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b" anchorCtr="0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5875000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543559220190338"/>
          <c:y val="8.5219271381380898E-2"/>
          <c:w val="0.76120121348467806"/>
          <c:h val="0.772235114350088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생산수량</c:v>
                </c:pt>
              </c:strCache>
            </c:strRef>
          </c:tx>
          <c:spPr>
            <a:ln w="28575" cap="rnd">
              <a:solidFill>
                <a:srgbClr val="092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920FF"/>
              </a:solidFill>
              <a:ln w="9525">
                <a:solidFill>
                  <a:srgbClr val="0920FF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FFB-41F5-BA6B-0809DBBC40E6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CD98-4890-B416-7410889F774D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EC6-413B-B5F2-6B2819AD378D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2BF-47F6-97C6-EAD0084B0EDE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2BF-47F6-97C6-EAD0084B0EDE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2BF-47F6-97C6-EAD0084B0EDE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2BF-47F6-97C6-EAD0084B0EDE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2BF-47F6-97C6-EAD0084B0EDE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6F11-476B-8378-4B666E8334C7}"/>
              </c:ext>
            </c:extLst>
          </c:dPt>
          <c:dPt>
            <c:idx val="10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C32A-47C0-B677-F14735C432BD}"/>
              </c:ext>
            </c:extLst>
          </c:dPt>
          <c:dPt>
            <c:idx val="11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E74-4CF6-B6F2-A4BE5FBA5A06}"/>
              </c:ext>
            </c:extLst>
          </c:dPt>
          <c:dPt>
            <c:idx val="12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E74-4CF6-B6F2-A4BE5FBA5A0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#,##0</c:formatCode>
                <c:ptCount val="13"/>
                <c:pt idx="0">
                  <c:v>12038416</c:v>
                </c:pt>
                <c:pt idx="1">
                  <c:v>6346489</c:v>
                </c:pt>
                <c:pt idx="2">
                  <c:v>10582017</c:v>
                </c:pt>
                <c:pt idx="3" formatCode="_(* #,##0_);_(* \(#,##0\);_(* &quot;-&quot;_);_(@_)">
                  <c:v>13808623</c:v>
                </c:pt>
                <c:pt idx="4" formatCode="_(* #,##0_);_(* \(#,##0\);_(* &quot;-&quot;_);_(@_)">
                  <c:v>15668522</c:v>
                </c:pt>
                <c:pt idx="5" formatCode="_(* #,##0_);_(* \(#,##0\);_(* &quot;-&quot;_);_(@_)">
                  <c:v>9428345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D-4173-9D3A-CEE5E6E6F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6502264"/>
        <c:axId val="566502656"/>
      </c:lineChart>
      <c:catAx>
        <c:axId val="566502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6502656"/>
        <c:crosses val="autoZero"/>
        <c:auto val="1"/>
        <c:lblAlgn val="ctr"/>
        <c:lblOffset val="100"/>
        <c:noMultiLvlLbl val="0"/>
      </c:catAx>
      <c:valAx>
        <c:axId val="56650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b" anchorCtr="0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900" b="1" dirty="0">
                    <a:solidFill>
                      <a:schemeClr val="tx1"/>
                    </a:solidFill>
                  </a:rPr>
                  <a:t>단위 </a:t>
                </a:r>
                <a:r>
                  <a:rPr lang="en-US" altLang="ko-KR" sz="900" b="1" baseline="0" dirty="0">
                    <a:solidFill>
                      <a:schemeClr val="tx1"/>
                    </a:solidFill>
                  </a:rPr>
                  <a:t> (</a:t>
                </a:r>
                <a:r>
                  <a:rPr lang="ko-KR" altLang="en-US" sz="900" b="1" baseline="0" dirty="0">
                    <a:solidFill>
                      <a:schemeClr val="tx1"/>
                    </a:solidFill>
                  </a:rPr>
                  <a:t>천</a:t>
                </a:r>
                <a:r>
                  <a:rPr lang="en-US" altLang="ko-KR" sz="900" b="1" baseline="0" dirty="0">
                    <a:solidFill>
                      <a:schemeClr val="tx1"/>
                    </a:solidFill>
                  </a:rPr>
                  <a:t>)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7.4076792298305438E-2"/>
              <c:y val="2.9128865016918037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b" anchorCtr="0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6502264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269145543485589"/>
          <c:y val="0.11647674643506817"/>
          <c:w val="0.76120121348467806"/>
          <c:h val="0.748216971226439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F9C-429C-902F-788A0BF97941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F9C-429C-902F-788A0BF97941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028-4F9A-A53F-A543E8D14B97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FC0-4E49-B37F-81CBBE5808BB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E2D-49EC-B2E5-9F1010C98365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7E2D-49EC-B2E5-9F1010C98365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7E2D-49EC-B2E5-9F1010C9836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7E2D-49EC-B2E5-9F1010C9836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7E2D-49EC-B2E5-9F1010C9836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E5A4-466F-9142-34846817FC78}"/>
              </c:ext>
            </c:extLst>
          </c:dPt>
          <c:dPt>
            <c:idx val="10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CA18-4EE3-9F65-9C7ECD1F9DAF}"/>
              </c:ext>
            </c:extLst>
          </c:dPt>
          <c:dPt>
            <c:idx val="11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CA18-4EE3-9F65-9C7ECD1F9DAF}"/>
              </c:ext>
            </c:extLst>
          </c:dPt>
          <c:dPt>
            <c:idx val="12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solidFill>
                    <a:schemeClr val="accent6">
                      <a:lumMod val="75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CA18-4EE3-9F65-9C7ECD1F9D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#,##0</c:formatCode>
                <c:ptCount val="13"/>
                <c:pt idx="0">
                  <c:v>58996551</c:v>
                </c:pt>
                <c:pt idx="1">
                  <c:v>64109101</c:v>
                </c:pt>
                <c:pt idx="2">
                  <c:v>47173590</c:v>
                </c:pt>
                <c:pt idx="3" formatCode="_(* #,##0_);_(* \(#,##0\);_(* &quot;-&quot;_);_(@_)">
                  <c:v>38302144</c:v>
                </c:pt>
                <c:pt idx="4" formatCode="_(* #,##0_);_(* \(#,##0\);_(* &quot;-&quot;_);_(@_)">
                  <c:v>50820438</c:v>
                </c:pt>
                <c:pt idx="5" formatCode="_(* #,##0_);_(* \(#,##0\);_(* &quot;-&quot;_);_(@_)">
                  <c:v>55749215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D-4173-9D3A-CEE5E6E6F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6503440"/>
        <c:axId val="566381944"/>
      </c:lineChart>
      <c:catAx>
        <c:axId val="56650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6381944"/>
        <c:crosses val="autoZero"/>
        <c:auto val="1"/>
        <c:lblAlgn val="ctr"/>
        <c:lblOffset val="100"/>
        <c:noMultiLvlLbl val="0"/>
      </c:catAx>
      <c:valAx>
        <c:axId val="566381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sz="1000" dirty="0"/>
                  <a:t>단위 </a:t>
                </a:r>
                <a:r>
                  <a:rPr lang="en-US" sz="1000" dirty="0"/>
                  <a:t> (</a:t>
                </a:r>
                <a:r>
                  <a:rPr lang="ko-KR" sz="1000" dirty="0"/>
                  <a:t>천</a:t>
                </a:r>
                <a:r>
                  <a:rPr lang="en-US" sz="1000" dirty="0"/>
                  <a:t>)</a:t>
                </a:r>
                <a:endParaRPr lang="ko-KR" sz="1000" dirty="0"/>
              </a:p>
            </c:rich>
          </c:tx>
          <c:layout>
            <c:manualLayout>
              <c:xMode val="edge"/>
              <c:yMode val="edge"/>
              <c:x val="5.4533001835987013E-2"/>
              <c:y val="6.0222518013382416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6503440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26656692035817"/>
          <c:y val="8.5219271381380912E-2"/>
          <c:w val="0.76120121348467806"/>
          <c:h val="0.772235114350088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rgbClr val="092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920FF"/>
              </a:solidFill>
              <a:ln w="9525">
                <a:solidFill>
                  <a:srgbClr val="0920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251-46A4-9851-6A090EB5B438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004-4803-991D-C75E8012D85D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C94-4766-9C77-14EC39195AA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C51E-44A3-89E0-26C16055542B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2BF-47F6-97C6-EAD0084B0EDE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2BF-47F6-97C6-EAD0084B0EDE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2BF-47F6-97C6-EAD0084B0EDE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22BF-47F6-97C6-EAD0084B0EDE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22BF-47F6-97C6-EAD0084B0EDE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6BD-419A-8355-005807517F92}"/>
              </c:ext>
            </c:extLst>
          </c:dPt>
          <c:dPt>
            <c:idx val="10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6BD-419A-8355-005807517F92}"/>
              </c:ext>
            </c:extLst>
          </c:dPt>
          <c:dPt>
            <c:idx val="11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871B-435C-9914-4071C6F5557D}"/>
              </c:ext>
            </c:extLst>
          </c:dPt>
          <c:dPt>
            <c:idx val="12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871B-435C-9914-4071C6F5557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195</c:v>
                </c:pt>
                <c:pt idx="1">
                  <c:v>196</c:v>
                </c:pt>
                <c:pt idx="2">
                  <c:v>179</c:v>
                </c:pt>
                <c:pt idx="3">
                  <c:v>176</c:v>
                </c:pt>
                <c:pt idx="4">
                  <c:v>189</c:v>
                </c:pt>
                <c:pt idx="5">
                  <c:v>168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D-4173-9D3A-CEE5E6E6F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6383904"/>
        <c:axId val="566384296"/>
      </c:lineChart>
      <c:catAx>
        <c:axId val="56638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6384296"/>
        <c:crosses val="autoZero"/>
        <c:auto val="1"/>
        <c:lblAlgn val="ctr"/>
        <c:lblOffset val="100"/>
        <c:noMultiLvlLbl val="0"/>
      </c:catAx>
      <c:valAx>
        <c:axId val="566384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b" anchorCtr="0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900" b="1" dirty="0">
                    <a:solidFill>
                      <a:schemeClr val="tx1"/>
                    </a:solidFill>
                  </a:rPr>
                  <a:t>단위 </a:t>
                </a:r>
                <a:r>
                  <a:rPr lang="en-US" altLang="ko-KR" sz="900" b="1" baseline="0" dirty="0">
                    <a:solidFill>
                      <a:schemeClr val="tx1"/>
                    </a:solidFill>
                  </a:rPr>
                  <a:t> (EA)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7.4076792298305438E-2"/>
              <c:y val="2.9128865016918037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b" anchorCtr="0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638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63808407329863"/>
          <c:y val="0.11129450707110443"/>
          <c:w val="0.76120121348467806"/>
          <c:h val="0.748216971226439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968-4F1E-A52F-F7785ACDCEA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D8C7-4787-BB54-10AAFC31578D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DC2-42CE-9760-9A40565A927A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9D1-4656-93B4-0590116108CA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E2D-49EC-B2E5-9F1010C98365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7E2D-49EC-B2E5-9F1010C98365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7E2D-49EC-B2E5-9F1010C98365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7E2D-49EC-B2E5-9F1010C98365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7E2D-49EC-B2E5-9F1010C98365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chemeClr val="accent6">
                    <a:lumMod val="75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6384-4F0C-B671-FEA0A14E46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62</c:v>
                </c:pt>
                <c:pt idx="1">
                  <c:v>64</c:v>
                </c:pt>
                <c:pt idx="2">
                  <c:v>65</c:v>
                </c:pt>
                <c:pt idx="3">
                  <c:v>44</c:v>
                </c:pt>
                <c:pt idx="4">
                  <c:v>55</c:v>
                </c:pt>
                <c:pt idx="5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D-4173-9D3A-CEE5E6E6F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5207208"/>
        <c:axId val="565207600"/>
      </c:lineChart>
      <c:catAx>
        <c:axId val="565207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5207600"/>
        <c:crosses val="autoZero"/>
        <c:auto val="1"/>
        <c:lblAlgn val="ctr"/>
        <c:lblOffset val="100"/>
        <c:noMultiLvlLbl val="0"/>
      </c:catAx>
      <c:valAx>
        <c:axId val="565207600"/>
        <c:scaling>
          <c:orientation val="minMax"/>
          <c:min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b" anchorCtr="0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sz="900" b="1" dirty="0">
                    <a:solidFill>
                      <a:schemeClr val="tx1"/>
                    </a:solidFill>
                  </a:rPr>
                  <a:t>단위 </a:t>
                </a:r>
                <a:r>
                  <a:rPr lang="en-US" altLang="ko-KR" sz="900" b="1" baseline="0" dirty="0">
                    <a:solidFill>
                      <a:schemeClr val="tx1"/>
                    </a:solidFill>
                  </a:rPr>
                  <a:t> (EA)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6.2997047469855724E-2"/>
              <c:y val="4.467579992149110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b" anchorCtr="0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5207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04875834561009"/>
          <c:y val="0.10611226770714065"/>
          <c:w val="0.76120121348467806"/>
          <c:h val="0.748216971226439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075-47BE-9552-C02690D8EC60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6627-4515-84C5-6FC266C4C090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974-4A93-8147-4635745C7D7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FEA-4CB0-9916-FCDD557C7692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E2D-49EC-B2E5-9F1010C98365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Sheet1!$A$3:$A$15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Sheet1!$B$3:$B$15</c:f>
              <c:numCache>
                <c:formatCode>General</c:formatCode>
                <c:ptCount val="13"/>
                <c:pt idx="0">
                  <c:v>8.9</c:v>
                </c:pt>
                <c:pt idx="1">
                  <c:v>8.8000000000000007</c:v>
                </c:pt>
                <c:pt idx="2">
                  <c:v>8.6999999999999993</c:v>
                </c:pt>
                <c:pt idx="3">
                  <c:v>8.9</c:v>
                </c:pt>
                <c:pt idx="4">
                  <c:v>8.6</c:v>
                </c:pt>
                <c:pt idx="5">
                  <c:v>8.6999999999999993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D-4173-9D3A-CEE5E6E6F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7635336"/>
        <c:axId val="567635728"/>
      </c:lineChart>
      <c:catAx>
        <c:axId val="567635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635728"/>
        <c:crosses val="autoZero"/>
        <c:auto val="1"/>
        <c:lblAlgn val="ctr"/>
        <c:lblOffset val="100"/>
        <c:noMultiLvlLbl val="0"/>
      </c:catAx>
      <c:valAx>
        <c:axId val="567635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635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28070770442083"/>
          <c:y val="7.4138349239255441E-2"/>
          <c:w val="0.76120121348467806"/>
          <c:h val="0.7722351143500888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ln w="28575" cap="rnd">
              <a:solidFill>
                <a:srgbClr val="092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920FF"/>
              </a:solidFill>
              <a:ln w="9525">
                <a:solidFill>
                  <a:srgbClr val="0920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E6B-4049-B148-DEB1F53CECEB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3D9-482C-A0BA-536C16445B85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920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7FE-4062-9667-6CBDCAA41EC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920FF"/>
                </a:solidFill>
                <a:ln w="9525">
                  <a:solidFill>
                    <a:srgbClr val="0920FF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230-4463-A845-AA66C2AF603C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25년 12월</c:v>
                </c:pt>
                <c:pt idx="1">
                  <c:v>1월</c:v>
                </c:pt>
                <c:pt idx="2">
                  <c:v>2월</c:v>
                </c:pt>
                <c:pt idx="3">
                  <c:v>3월</c:v>
                </c:pt>
                <c:pt idx="4">
                  <c:v>4월</c:v>
                </c:pt>
                <c:pt idx="5">
                  <c:v>5월</c:v>
                </c:pt>
                <c:pt idx="6">
                  <c:v>6월</c:v>
                </c:pt>
                <c:pt idx="7">
                  <c:v>7월</c:v>
                </c:pt>
                <c:pt idx="8">
                  <c:v>8월</c:v>
                </c:pt>
                <c:pt idx="9">
                  <c:v>9월</c:v>
                </c:pt>
                <c:pt idx="10">
                  <c:v>10월</c:v>
                </c:pt>
                <c:pt idx="11">
                  <c:v>11월</c:v>
                </c:pt>
                <c:pt idx="12">
                  <c:v>12월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7.8</c:v>
                </c:pt>
                <c:pt idx="2">
                  <c:v>7.8</c:v>
                </c:pt>
                <c:pt idx="3">
                  <c:v>7.4</c:v>
                </c:pt>
                <c:pt idx="4">
                  <c:v>7.7</c:v>
                </c:pt>
                <c:pt idx="5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D-4173-9D3A-CEE5E6E6F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7634160"/>
        <c:axId val="567634552"/>
      </c:lineChart>
      <c:catAx>
        <c:axId val="567634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634552"/>
        <c:crosses val="autoZero"/>
        <c:auto val="1"/>
        <c:lblAlgn val="ctr"/>
        <c:lblOffset val="100"/>
        <c:noMultiLvlLbl val="0"/>
      </c:catAx>
      <c:valAx>
        <c:axId val="5676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63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MX5D-P6210</c:v>
                </c:pt>
                <c:pt idx="1">
                  <c:v>IK 9830</c:v>
                </c:pt>
                <c:pt idx="2">
                  <c:v>MX5-P6510</c:v>
                </c:pt>
                <c:pt idx="3">
                  <c:v>AE RESOLVER-GROMMET</c:v>
                </c:pt>
                <c:pt idx="4">
                  <c:v>IG 9820</c:v>
                </c:pt>
                <c:pt idx="5">
                  <c:v>YF 9810</c:v>
                </c:pt>
                <c:pt idx="6">
                  <c:v>R2084-D400</c:v>
                </c:pt>
                <c:pt idx="7">
                  <c:v>KA4H-P7010</c:v>
                </c:pt>
                <c:pt idx="8">
                  <c:v>SP3-BS010</c:v>
                </c:pt>
                <c:pt idx="9">
                  <c:v>NX4 N9080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123489229.09999996</c:v>
                </c:pt>
                <c:pt idx="1">
                  <c:v>102042720</c:v>
                </c:pt>
                <c:pt idx="2">
                  <c:v>89508921.600000009</c:v>
                </c:pt>
                <c:pt idx="3">
                  <c:v>83687562</c:v>
                </c:pt>
                <c:pt idx="4">
                  <c:v>46316160</c:v>
                </c:pt>
                <c:pt idx="5">
                  <c:v>41309928</c:v>
                </c:pt>
                <c:pt idx="6">
                  <c:v>36156120</c:v>
                </c:pt>
                <c:pt idx="7">
                  <c:v>29501160.600000001</c:v>
                </c:pt>
                <c:pt idx="8">
                  <c:v>28597914</c:v>
                </c:pt>
                <c:pt idx="9">
                  <c:v>28196000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40-47BF-887C-28A504FDD9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7690960"/>
        <c:axId val="567691352"/>
      </c:barChart>
      <c:catAx>
        <c:axId val="567690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691352"/>
        <c:crosses val="autoZero"/>
        <c:auto val="1"/>
        <c:lblAlgn val="ctr"/>
        <c:lblOffset val="100"/>
        <c:noMultiLvlLbl val="0"/>
      </c:catAx>
      <c:valAx>
        <c:axId val="567691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690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410001</c:v>
                </c:pt>
                <c:pt idx="1">
                  <c:v>410002</c:v>
                </c:pt>
                <c:pt idx="2">
                  <c:v>NU 615470</c:v>
                </c:pt>
                <c:pt idx="3">
                  <c:v>RG3 614837</c:v>
                </c:pt>
                <c:pt idx="4">
                  <c:v>430001</c:v>
                </c:pt>
                <c:pt idx="5">
                  <c:v>A19189-4000</c:v>
                </c:pt>
                <c:pt idx="6">
                  <c:v>GL3 610853</c:v>
                </c:pt>
                <c:pt idx="7">
                  <c:v>삼금 400</c:v>
                </c:pt>
                <c:pt idx="8">
                  <c:v>NEOR GI000</c:v>
                </c:pt>
                <c:pt idx="9">
                  <c:v>AE RESOLVER-GROMMET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1320000</c:v>
                </c:pt>
                <c:pt idx="1">
                  <c:v>988400</c:v>
                </c:pt>
                <c:pt idx="2">
                  <c:v>439920</c:v>
                </c:pt>
                <c:pt idx="3">
                  <c:v>399456</c:v>
                </c:pt>
                <c:pt idx="4">
                  <c:v>356800</c:v>
                </c:pt>
                <c:pt idx="5">
                  <c:v>333920</c:v>
                </c:pt>
                <c:pt idx="6">
                  <c:v>307360</c:v>
                </c:pt>
                <c:pt idx="7">
                  <c:v>282013</c:v>
                </c:pt>
                <c:pt idx="8">
                  <c:v>275856</c:v>
                </c:pt>
                <c:pt idx="9">
                  <c:v>259980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40-47BF-887C-28A504FDD9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8053976"/>
        <c:axId val="568054368"/>
      </c:barChart>
      <c:catAx>
        <c:axId val="568053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8054368"/>
        <c:crosses val="autoZero"/>
        <c:auto val="1"/>
        <c:lblAlgn val="ctr"/>
        <c:lblOffset val="100"/>
        <c:noMultiLvlLbl val="0"/>
      </c:catAx>
      <c:valAx>
        <c:axId val="56805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8053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생산수량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685390</c:v>
                </c:pt>
                <c:pt idx="1">
                  <c:v>681114</c:v>
                </c:pt>
                <c:pt idx="2">
                  <c:v>685394</c:v>
                </c:pt>
                <c:pt idx="3">
                  <c:v>681159</c:v>
                </c:pt>
                <c:pt idx="4">
                  <c:v>682622</c:v>
                </c:pt>
                <c:pt idx="5">
                  <c:v>680449</c:v>
                </c:pt>
                <c:pt idx="6">
                  <c:v>682620</c:v>
                </c:pt>
                <c:pt idx="7">
                  <c:v>681266</c:v>
                </c:pt>
                <c:pt idx="8">
                  <c:v>680450</c:v>
                </c:pt>
                <c:pt idx="9">
                  <c:v>683293</c:v>
                </c:pt>
              </c:numCache>
            </c:numRef>
          </c:cat>
          <c:val>
            <c:numRef>
              <c:f>Sheet1!$B$2:$B$11</c:f>
              <c:numCache>
                <c:formatCode>#,##0</c:formatCode>
                <c:ptCount val="10"/>
                <c:pt idx="0">
                  <c:v>9066584</c:v>
                </c:pt>
                <c:pt idx="1">
                  <c:v>6830780</c:v>
                </c:pt>
                <c:pt idx="2">
                  <c:v>3926016</c:v>
                </c:pt>
                <c:pt idx="3">
                  <c:v>3643200</c:v>
                </c:pt>
                <c:pt idx="4">
                  <c:v>3087450</c:v>
                </c:pt>
                <c:pt idx="5">
                  <c:v>3012216</c:v>
                </c:pt>
                <c:pt idx="6">
                  <c:v>2460414</c:v>
                </c:pt>
                <c:pt idx="7">
                  <c:v>1854020</c:v>
                </c:pt>
                <c:pt idx="8">
                  <c:v>1747530</c:v>
                </c:pt>
                <c:pt idx="9">
                  <c:v>1717632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A-4886-ACF0-38ED75FF28EE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685390</c:v>
                </c:pt>
                <c:pt idx="1">
                  <c:v>681114</c:v>
                </c:pt>
                <c:pt idx="2">
                  <c:v>685394</c:v>
                </c:pt>
                <c:pt idx="3">
                  <c:v>681159</c:v>
                </c:pt>
                <c:pt idx="4">
                  <c:v>682622</c:v>
                </c:pt>
                <c:pt idx="5">
                  <c:v>680449</c:v>
                </c:pt>
                <c:pt idx="6">
                  <c:v>682620</c:v>
                </c:pt>
                <c:pt idx="7">
                  <c:v>681266</c:v>
                </c:pt>
                <c:pt idx="8">
                  <c:v>680450</c:v>
                </c:pt>
                <c:pt idx="9">
                  <c:v>683293</c:v>
                </c:pt>
              </c:numCache>
            </c:numRef>
          </c:cat>
          <c:val>
            <c:numRef>
              <c:f>Sheet1!$C$2:$C$11</c:f>
              <c:numCache>
                <c:formatCode>0%</c:formatCode>
                <c:ptCount val="10"/>
                <c:pt idx="0">
                  <c:v>0.16263159938664606</c:v>
                </c:pt>
                <c:pt idx="1">
                  <c:v>0.12252692706076669</c:v>
                </c:pt>
                <c:pt idx="2">
                  <c:v>7.0422803262790337E-2</c:v>
                </c:pt>
                <c:pt idx="3">
                  <c:v>6.5349799095825833E-2</c:v>
                </c:pt>
                <c:pt idx="4">
                  <c:v>5.5381048863199236E-2</c:v>
                </c:pt>
                <c:pt idx="5">
                  <c:v>5.4031541071923615E-2</c:v>
                </c:pt>
                <c:pt idx="6">
                  <c:v>4.4133607979950931E-2</c:v>
                </c:pt>
                <c:pt idx="7">
                  <c:v>3.3256432399989849E-2</c:v>
                </c:pt>
                <c:pt idx="8">
                  <c:v>3.1346270974398474E-2</c:v>
                </c:pt>
                <c:pt idx="9">
                  <c:v>3.0809976427470773E-2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E-4E8F-80BC-990CA5400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158392"/>
        <c:axId val="571158784"/>
      </c:barChart>
      <c:catAx>
        <c:axId val="571158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58784"/>
        <c:crosses val="autoZero"/>
        <c:auto val="1"/>
        <c:lblAlgn val="ctr"/>
        <c:lblOffset val="100"/>
        <c:noMultiLvlLbl val="0"/>
      </c:catAx>
      <c:valAx>
        <c:axId val="57115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58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94612669809339"/>
          <c:y val="6.5831399767129539E-2"/>
          <c:w val="0.77415660050245394"/>
          <c:h val="0.64122910779610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685390</c:v>
                </c:pt>
                <c:pt idx="1">
                  <c:v>681114</c:v>
                </c:pt>
                <c:pt idx="2">
                  <c:v>685683</c:v>
                </c:pt>
                <c:pt idx="3">
                  <c:v>680449</c:v>
                </c:pt>
                <c:pt idx="4">
                  <c:v>681159</c:v>
                </c:pt>
                <c:pt idx="5">
                  <c:v>R600070</c:v>
                </c:pt>
                <c:pt idx="6">
                  <c:v>685394</c:v>
                </c:pt>
                <c:pt idx="7">
                  <c:v>R603625</c:v>
                </c:pt>
                <c:pt idx="8">
                  <c:v>680450</c:v>
                </c:pt>
                <c:pt idx="9">
                  <c:v>R600050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72532672</c:v>
                </c:pt>
                <c:pt idx="1">
                  <c:v>59837632.800000012</c:v>
                </c:pt>
                <c:pt idx="2">
                  <c:v>54215380.800000034</c:v>
                </c:pt>
                <c:pt idx="3">
                  <c:v>42683100.719999991</c:v>
                </c:pt>
                <c:pt idx="4">
                  <c:v>39783744</c:v>
                </c:pt>
                <c:pt idx="5">
                  <c:v>38174449.279999994</c:v>
                </c:pt>
                <c:pt idx="6">
                  <c:v>29052518.400000002</c:v>
                </c:pt>
                <c:pt idx="7">
                  <c:v>28271550</c:v>
                </c:pt>
                <c:pt idx="8">
                  <c:v>24762500.099999998</c:v>
                </c:pt>
                <c:pt idx="9">
                  <c:v>24203219.040000003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40-47BF-887C-28A504FDD9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accent6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685390</c:v>
                </c:pt>
                <c:pt idx="1">
                  <c:v>681114</c:v>
                </c:pt>
                <c:pt idx="2">
                  <c:v>685683</c:v>
                </c:pt>
                <c:pt idx="3">
                  <c:v>680449</c:v>
                </c:pt>
                <c:pt idx="4">
                  <c:v>681159</c:v>
                </c:pt>
                <c:pt idx="5">
                  <c:v>R600070</c:v>
                </c:pt>
                <c:pt idx="6">
                  <c:v>685394</c:v>
                </c:pt>
                <c:pt idx="7">
                  <c:v>R603625</c:v>
                </c:pt>
                <c:pt idx="8">
                  <c:v>680450</c:v>
                </c:pt>
                <c:pt idx="9">
                  <c:v>R600050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9.5875402269196233E-2</c:v>
                </c:pt>
                <c:pt idx="1">
                  <c:v>7.9094799038100405E-2</c:v>
                </c:pt>
                <c:pt idx="2">
                  <c:v>7.1663173299029451E-2</c:v>
                </c:pt>
                <c:pt idx="3">
                  <c:v>5.6419532588384697E-2</c:v>
                </c:pt>
                <c:pt idx="4">
                  <c:v>5.2587094265253619E-2</c:v>
                </c:pt>
                <c:pt idx="5">
                  <c:v>5.0459890421864342E-2</c:v>
                </c:pt>
                <c:pt idx="6">
                  <c:v>3.8402306322497338E-2</c:v>
                </c:pt>
                <c:pt idx="7">
                  <c:v>3.7370003810471709E-2</c:v>
                </c:pt>
                <c:pt idx="8">
                  <c:v>3.2731658614183021E-2</c:v>
                </c:pt>
                <c:pt idx="9">
                  <c:v>3.1992387674198319E-2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51-408C-85C7-9D9D1411F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159568"/>
        <c:axId val="571159960"/>
      </c:barChart>
      <c:catAx>
        <c:axId val="571159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59960"/>
        <c:crosses val="autoZero"/>
        <c:auto val="1"/>
        <c:lblAlgn val="ctr"/>
        <c:lblOffset val="100"/>
        <c:noMultiLvlLbl val="0"/>
      </c:catAx>
      <c:valAx>
        <c:axId val="571159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59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42826498357646"/>
          <c:y val="0.10755520319473807"/>
          <c:w val="0.80775706573024153"/>
          <c:h val="0.750903413984809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생산수량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 권기영 </c:v>
                </c:pt>
                <c:pt idx="1">
                  <c:v> 보냣민 </c:v>
                </c:pt>
                <c:pt idx="2">
                  <c:v> 반드(B) </c:v>
                </c:pt>
                <c:pt idx="3">
                  <c:v> 안반 </c:v>
                </c:pt>
                <c:pt idx="4">
                  <c:v> 광이 </c:v>
                </c:pt>
                <c:pt idx="5">
                  <c:v> 둥 </c:v>
                </c:pt>
                <c:pt idx="6">
                  <c:v> 공민 </c:v>
                </c:pt>
                <c:pt idx="7">
                  <c:v> 도안 </c:v>
                </c:pt>
                <c:pt idx="8">
                  <c:v> 두안(D) </c:v>
                </c:pt>
                <c:pt idx="9">
                  <c:v> 링 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453229</c:v>
                </c:pt>
                <c:pt idx="1">
                  <c:v>375807</c:v>
                </c:pt>
                <c:pt idx="2">
                  <c:v>365688</c:v>
                </c:pt>
                <c:pt idx="3">
                  <c:v>225276</c:v>
                </c:pt>
                <c:pt idx="4">
                  <c:v>217961</c:v>
                </c:pt>
                <c:pt idx="5">
                  <c:v>191960</c:v>
                </c:pt>
                <c:pt idx="6">
                  <c:v>190767</c:v>
                </c:pt>
                <c:pt idx="7">
                  <c:v>183493</c:v>
                </c:pt>
                <c:pt idx="8">
                  <c:v>171444</c:v>
                </c:pt>
                <c:pt idx="9">
                  <c:v>163470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44-45FF-B15C-5D8D4D078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161528"/>
        <c:axId val="571161920"/>
      </c:barChart>
      <c:catAx>
        <c:axId val="571161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61920"/>
        <c:crosses val="autoZero"/>
        <c:auto val="1"/>
        <c:lblAlgn val="ctr"/>
        <c:lblOffset val="100"/>
        <c:noMultiLvlLbl val="0"/>
      </c:catAx>
      <c:valAx>
        <c:axId val="571161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61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298477553898621"/>
          <c:y val="0.17283048816859686"/>
          <c:w val="0.77985472535330524"/>
          <c:h val="0.678584006079570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생산금액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 녹펑 </c:v>
                </c:pt>
                <c:pt idx="1">
                  <c:v> 반용 </c:v>
                </c:pt>
                <c:pt idx="2">
                  <c:v> 두안(D) </c:v>
                </c:pt>
                <c:pt idx="3">
                  <c:v> 선하 </c:v>
                </c:pt>
                <c:pt idx="4">
                  <c:v> 녹중 </c:v>
                </c:pt>
                <c:pt idx="5">
                  <c:v> 반훙 </c:v>
                </c:pt>
                <c:pt idx="6">
                  <c:v> 딩 </c:v>
                </c:pt>
                <c:pt idx="7">
                  <c:v> 반하이(D) </c:v>
                </c:pt>
                <c:pt idx="8">
                  <c:v> 둥 </c:v>
                </c:pt>
                <c:pt idx="9">
                  <c:v> 안반 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59763443.500000015</c:v>
                </c:pt>
                <c:pt idx="1">
                  <c:v>59280155.799999982</c:v>
                </c:pt>
                <c:pt idx="2">
                  <c:v>53211127</c:v>
                </c:pt>
                <c:pt idx="3">
                  <c:v>52769707.720000014</c:v>
                </c:pt>
                <c:pt idx="4">
                  <c:v>52597216</c:v>
                </c:pt>
                <c:pt idx="5">
                  <c:v>52574964.799999997</c:v>
                </c:pt>
                <c:pt idx="6">
                  <c:v>48342812.800000004</c:v>
                </c:pt>
                <c:pt idx="7">
                  <c:v>42338001.600000001</c:v>
                </c:pt>
                <c:pt idx="8">
                  <c:v>41285749.399999984</c:v>
                </c:pt>
                <c:pt idx="9">
                  <c:v>39852757.200000003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5A-4918-8DE0-345EC05DE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162704"/>
        <c:axId val="571163096"/>
      </c:barChart>
      <c:catAx>
        <c:axId val="57116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63096"/>
        <c:crosses val="autoZero"/>
        <c:auto val="1"/>
        <c:lblAlgn val="ctr"/>
        <c:lblOffset val="100"/>
        <c:noMultiLvlLbl val="0"/>
      </c:catAx>
      <c:valAx>
        <c:axId val="571163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62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762062404281979"/>
          <c:y val="6.0481445347056177E-2"/>
          <c:w val="0.79822202971190492"/>
          <c:h val="0.624093245914235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생산수량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 안탐 </c:v>
                </c:pt>
                <c:pt idx="1">
                  <c:v> 마이(B) </c:v>
                </c:pt>
                <c:pt idx="2">
                  <c:v> 홍탐 </c:v>
                </c:pt>
                <c:pt idx="3">
                  <c:v> 반록 </c:v>
                </c:pt>
                <c:pt idx="4">
                  <c:v> 반하 </c:v>
                </c:pt>
                <c:pt idx="5">
                  <c:v> 단민(B) </c:v>
                </c:pt>
                <c:pt idx="6">
                  <c:v> 반히엡 </c:v>
                </c:pt>
                <c:pt idx="7">
                  <c:v> 탕 </c:v>
                </c:pt>
                <c:pt idx="8">
                  <c:v> 치그엉 </c:v>
                </c:pt>
                <c:pt idx="9">
                  <c:v> 홍탐 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4301583</c:v>
                </c:pt>
                <c:pt idx="1">
                  <c:v>3257633</c:v>
                </c:pt>
                <c:pt idx="2">
                  <c:v>3194966</c:v>
                </c:pt>
                <c:pt idx="3">
                  <c:v>3137392</c:v>
                </c:pt>
                <c:pt idx="4">
                  <c:v>2821787</c:v>
                </c:pt>
                <c:pt idx="5">
                  <c:v>2786688</c:v>
                </c:pt>
                <c:pt idx="6">
                  <c:v>2724308</c:v>
                </c:pt>
                <c:pt idx="7">
                  <c:v>2691135</c:v>
                </c:pt>
                <c:pt idx="8">
                  <c:v>2689453</c:v>
                </c:pt>
                <c:pt idx="9">
                  <c:v>2665794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44-45FF-B15C-5D8D4D078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164664"/>
        <c:axId val="571165056"/>
      </c:barChart>
      <c:catAx>
        <c:axId val="571164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65056"/>
        <c:crosses val="autoZero"/>
        <c:auto val="1"/>
        <c:lblAlgn val="ctr"/>
        <c:lblOffset val="100"/>
        <c:noMultiLvlLbl val="0"/>
      </c:catAx>
      <c:valAx>
        <c:axId val="57116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64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생산금액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 티시우 </c:v>
                </c:pt>
                <c:pt idx="1">
                  <c:v> 티히엔(C) </c:v>
                </c:pt>
                <c:pt idx="2">
                  <c:v> 민(B) </c:v>
                </c:pt>
                <c:pt idx="3">
                  <c:v> 튀린(B) </c:v>
                </c:pt>
                <c:pt idx="4">
                  <c:v> 응억선 </c:v>
                </c:pt>
                <c:pt idx="5">
                  <c:v> 안탐 </c:v>
                </c:pt>
                <c:pt idx="6">
                  <c:v> 응안 </c:v>
                </c:pt>
                <c:pt idx="7">
                  <c:v> 반록 </c:v>
                </c:pt>
                <c:pt idx="8">
                  <c:v> 마이(B) </c:v>
                </c:pt>
                <c:pt idx="9">
                  <c:v> 홍탐 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49545279.549999997</c:v>
                </c:pt>
                <c:pt idx="1">
                  <c:v>40576549.710000001</c:v>
                </c:pt>
                <c:pt idx="2">
                  <c:v>38703645.070000015</c:v>
                </c:pt>
                <c:pt idx="3">
                  <c:v>36412034.850000009</c:v>
                </c:pt>
                <c:pt idx="4">
                  <c:v>35760148.839999989</c:v>
                </c:pt>
                <c:pt idx="5">
                  <c:v>34412664</c:v>
                </c:pt>
                <c:pt idx="6">
                  <c:v>33264862.169999987</c:v>
                </c:pt>
                <c:pt idx="7">
                  <c:v>29920645.16</c:v>
                </c:pt>
                <c:pt idx="8">
                  <c:v>28536865.079999998</c:v>
                </c:pt>
                <c:pt idx="9">
                  <c:v>26535231.359999999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5A-4918-8DE0-345EC05DE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3847216"/>
        <c:axId val="573847608"/>
      </c:barChart>
      <c:catAx>
        <c:axId val="573847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3847608"/>
        <c:crosses val="autoZero"/>
        <c:auto val="0"/>
        <c:lblAlgn val="ctr"/>
        <c:lblOffset val="100"/>
        <c:noMultiLvlLbl val="0"/>
      </c:catAx>
      <c:valAx>
        <c:axId val="573847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3847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96017963646927"/>
          <c:y val="4.4431582086836077E-2"/>
          <c:w val="0.7814719124082653"/>
          <c:h val="0.57881114745148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생산수량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E5005-1</c:v>
                </c:pt>
                <c:pt idx="1">
                  <c:v>E5005-1(리본)</c:v>
                </c:pt>
                <c:pt idx="2">
                  <c:v>E5007</c:v>
                </c:pt>
                <c:pt idx="3">
                  <c:v>E4701(리본)</c:v>
                </c:pt>
                <c:pt idx="4">
                  <c:v>F7008</c:v>
                </c:pt>
                <c:pt idx="5">
                  <c:v>SI4027K</c:v>
                </c:pt>
                <c:pt idx="6">
                  <c:v>E5008</c:v>
                </c:pt>
                <c:pt idx="7">
                  <c:v>Q4020</c:v>
                </c:pt>
                <c:pt idx="8">
                  <c:v>H-N7001</c:v>
                </c:pt>
                <c:pt idx="9">
                  <c:v>F7001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165308933.07499984</c:v>
                </c:pt>
                <c:pt idx="1">
                  <c:v>51939944.551000006</c:v>
                </c:pt>
                <c:pt idx="2">
                  <c:v>51358832.800000034</c:v>
                </c:pt>
                <c:pt idx="3">
                  <c:v>28375932.398000006</c:v>
                </c:pt>
                <c:pt idx="4">
                  <c:v>26011154.399999999</c:v>
                </c:pt>
                <c:pt idx="5">
                  <c:v>15969096.000000002</c:v>
                </c:pt>
                <c:pt idx="6">
                  <c:v>14959683.288000001</c:v>
                </c:pt>
                <c:pt idx="7">
                  <c:v>13270752.198000006</c:v>
                </c:pt>
                <c:pt idx="8">
                  <c:v>6203994.7200000007</c:v>
                </c:pt>
                <c:pt idx="9">
                  <c:v>6115718.4000000022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5A-4918-8DE0-345EC05DE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3848784"/>
        <c:axId val="573849176"/>
      </c:barChart>
      <c:catAx>
        <c:axId val="573848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3849176"/>
        <c:crosses val="autoZero"/>
        <c:auto val="1"/>
        <c:lblAlgn val="ctr"/>
        <c:lblOffset val="100"/>
        <c:noMultiLvlLbl val="0"/>
      </c:catAx>
      <c:valAx>
        <c:axId val="573849176"/>
        <c:scaling>
          <c:orientation val="minMax"/>
          <c:max val="1200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7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3848784"/>
        <c:crosses val="autoZero"/>
        <c:crossBetween val="between"/>
        <c:majorUnit val="10000000"/>
        <c:dispUnits>
          <c:builtInUnit val="thousands"/>
          <c:dispUnitsLbl>
            <c:layout>
              <c:manualLayout>
                <c:xMode val="edge"/>
                <c:yMode val="edge"/>
                <c:x val="1.3642464011366581E-2"/>
                <c:y val="0"/>
              </c:manualLayout>
            </c:layout>
            <c:spPr>
              <a:noFill/>
              <a:ln>
                <a:noFill/>
              </a:ln>
              <a:effectLst/>
            </c:spPr>
            <c:txPr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666972071112709"/>
          <c:y val="6.0481445347056177E-2"/>
          <c:w val="0.77570943264764303"/>
          <c:h val="0.511700392442325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생산수량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E5005-1</c:v>
                </c:pt>
                <c:pt idx="1">
                  <c:v>E5005-1(리본)</c:v>
                </c:pt>
                <c:pt idx="2">
                  <c:v>E5007</c:v>
                </c:pt>
                <c:pt idx="3">
                  <c:v>E4701(리본)</c:v>
                </c:pt>
                <c:pt idx="4">
                  <c:v>E5008</c:v>
                </c:pt>
                <c:pt idx="5">
                  <c:v>SI4027K</c:v>
                </c:pt>
                <c:pt idx="6">
                  <c:v>E4005-1</c:v>
                </c:pt>
                <c:pt idx="7">
                  <c:v>E4005</c:v>
                </c:pt>
                <c:pt idx="8">
                  <c:v>Q4020</c:v>
                </c:pt>
                <c:pt idx="9">
                  <c:v>E4701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50864287.099999957</c:v>
                </c:pt>
                <c:pt idx="1">
                  <c:v>15504461.060000004</c:v>
                </c:pt>
                <c:pt idx="2">
                  <c:v>11340377.4</c:v>
                </c:pt>
                <c:pt idx="3">
                  <c:v>8321387.7999999998</c:v>
                </c:pt>
                <c:pt idx="4">
                  <c:v>3280632.3000000007</c:v>
                </c:pt>
                <c:pt idx="5">
                  <c:v>1774344.0000000002</c:v>
                </c:pt>
                <c:pt idx="6">
                  <c:v>1770295.9999999993</c:v>
                </c:pt>
                <c:pt idx="7">
                  <c:v>1596724.800000001</c:v>
                </c:pt>
                <c:pt idx="8">
                  <c:v>1269928.4399999997</c:v>
                </c:pt>
                <c:pt idx="9">
                  <c:v>1118620.8000000005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5A-4918-8DE0-345EC05DE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3850352"/>
        <c:axId val="573850744"/>
      </c:barChart>
      <c:catAx>
        <c:axId val="57385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3850744"/>
        <c:crosses val="autoZero"/>
        <c:auto val="1"/>
        <c:lblAlgn val="ctr"/>
        <c:lblOffset val="100"/>
        <c:noMultiLvlLbl val="0"/>
      </c:catAx>
      <c:valAx>
        <c:axId val="573850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7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3850352"/>
        <c:crosses val="autoZero"/>
        <c:crossBetween val="between"/>
        <c:majorUnit val="5000000"/>
        <c:dispUnits>
          <c:builtInUnit val="thousands"/>
          <c:dispUnitsLbl>
            <c:layout>
              <c:manualLayout>
                <c:xMode val="edge"/>
                <c:yMode val="edge"/>
                <c:x val="1.0043944233174515E-2"/>
                <c:y val="1.2331855566395883E-2"/>
              </c:manualLayout>
            </c:layout>
            <c:spPr>
              <a:noFill/>
              <a:ln>
                <a:noFill/>
              </a:ln>
              <a:effectLst/>
            </c:spPr>
            <c:txPr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96017963646927"/>
          <c:y val="4.4431582086836077E-2"/>
          <c:w val="0.7814719124082653"/>
          <c:h val="0.57881114745148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SI4022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SI4022</c:v>
                </c:pt>
                <c:pt idx="1">
                  <c:v>SI5521</c:v>
                </c:pt>
                <c:pt idx="2">
                  <c:v>SI4029</c:v>
                </c:pt>
                <c:pt idx="3">
                  <c:v>SI4023</c:v>
                </c:pt>
                <c:pt idx="4">
                  <c:v>SI4020-2</c:v>
                </c:pt>
                <c:pt idx="5">
                  <c:v>SI4028</c:v>
                </c:pt>
                <c:pt idx="6">
                  <c:v>SI3020</c:v>
                </c:pt>
                <c:pt idx="7">
                  <c:v>SI3510</c:v>
                </c:pt>
                <c:pt idx="8">
                  <c:v>SI4026</c:v>
                </c:pt>
                <c:pt idx="9">
                  <c:v>SI4021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47317359.319999978</c:v>
                </c:pt>
                <c:pt idx="1">
                  <c:v>17749883.250000004</c:v>
                </c:pt>
                <c:pt idx="2">
                  <c:v>14850000.000000009</c:v>
                </c:pt>
                <c:pt idx="3">
                  <c:v>14067835.65</c:v>
                </c:pt>
                <c:pt idx="4">
                  <c:v>12458754</c:v>
                </c:pt>
                <c:pt idx="5">
                  <c:v>11028441.599999998</c:v>
                </c:pt>
                <c:pt idx="6">
                  <c:v>10681749.760000002</c:v>
                </c:pt>
                <c:pt idx="7">
                  <c:v>10243722.060000001</c:v>
                </c:pt>
                <c:pt idx="8">
                  <c:v>9961311.3600000031</c:v>
                </c:pt>
                <c:pt idx="9">
                  <c:v>9123651.6800000016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5A-4918-8DE0-345EC05DE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163488"/>
        <c:axId val="571160352"/>
      </c:barChart>
      <c:catAx>
        <c:axId val="571163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60352"/>
        <c:crosses val="autoZero"/>
        <c:auto val="1"/>
        <c:lblAlgn val="ctr"/>
        <c:lblOffset val="100"/>
        <c:noMultiLvlLbl val="0"/>
      </c:catAx>
      <c:valAx>
        <c:axId val="57116035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163488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1.3642464011366581E-2"/>
                <c:y val="0"/>
              </c:manualLayout>
            </c:layout>
            <c:spPr>
              <a:noFill/>
              <a:ln>
                <a:noFill/>
              </a:ln>
              <a:effectLst/>
            </c:spPr>
            <c:txPr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생산수량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SI4022</c:v>
                </c:pt>
                <c:pt idx="1">
                  <c:v>SI5521</c:v>
                </c:pt>
                <c:pt idx="2">
                  <c:v>SI4029</c:v>
                </c:pt>
                <c:pt idx="3">
                  <c:v>SI4023</c:v>
                </c:pt>
                <c:pt idx="4">
                  <c:v>SI4028</c:v>
                </c:pt>
                <c:pt idx="5">
                  <c:v>SI3510</c:v>
                </c:pt>
                <c:pt idx="6">
                  <c:v>SI4020-2</c:v>
                </c:pt>
                <c:pt idx="7">
                  <c:v>SI4026</c:v>
                </c:pt>
                <c:pt idx="8">
                  <c:v>SI3020</c:v>
                </c:pt>
                <c:pt idx="9">
                  <c:v>SI4021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4661808.8000000017</c:v>
                </c:pt>
                <c:pt idx="1">
                  <c:v>2151501.0000000005</c:v>
                </c:pt>
                <c:pt idx="2">
                  <c:v>1649999.9999999993</c:v>
                </c:pt>
                <c:pt idx="3">
                  <c:v>1512670.5000000007</c:v>
                </c:pt>
                <c:pt idx="4">
                  <c:v>1225382.3999999999</c:v>
                </c:pt>
                <c:pt idx="5">
                  <c:v>1212274.8</c:v>
                </c:pt>
                <c:pt idx="6">
                  <c:v>1186548</c:v>
                </c:pt>
                <c:pt idx="7">
                  <c:v>1094649.6000000003</c:v>
                </c:pt>
                <c:pt idx="8">
                  <c:v>1084441.6000000001</c:v>
                </c:pt>
                <c:pt idx="9">
                  <c:v>1036778.6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5A-4918-8DE0-345EC05DE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957496"/>
        <c:axId val="574957888"/>
      </c:barChart>
      <c:catAx>
        <c:axId val="574957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57888"/>
        <c:crosses val="autoZero"/>
        <c:auto val="1"/>
        <c:lblAlgn val="ctr"/>
        <c:lblOffset val="100"/>
        <c:noMultiLvlLbl val="0"/>
      </c:catAx>
      <c:valAx>
        <c:axId val="574957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57496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1.0043944233174515E-2"/>
                <c:y val="1.2331855566395883E-2"/>
              </c:manualLayout>
            </c:layout>
            <c:spPr>
              <a:noFill/>
              <a:ln>
                <a:noFill/>
              </a:ln>
              <a:effectLst/>
            </c:spPr>
            <c:txPr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pPr>
            <a:r>
              <a:rPr lang="ko-KR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총 작업시간 </a:t>
            </a:r>
            <a:r>
              <a:rPr lang="en-US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TOP5</a:t>
            </a:r>
          </a:p>
        </c:rich>
      </c:tx>
      <c:layout>
        <c:manualLayout>
          <c:xMode val="edge"/>
          <c:yMode val="edge"/>
          <c:x val="0.28290612853093605"/>
          <c:y val="3.52260430217367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MX5-P6510</c:v>
                </c:pt>
                <c:pt idx="1">
                  <c:v>SP3-BS010</c:v>
                </c:pt>
                <c:pt idx="2">
                  <c:v>MQ4PG P4006</c:v>
                </c:pt>
                <c:pt idx="3">
                  <c:v>MX5D-P6210</c:v>
                </c:pt>
                <c:pt idx="4">
                  <c:v>IK 9830</c:v>
                </c:pt>
              </c:strCache>
            </c:strRef>
          </c:cat>
          <c:val>
            <c:numRef>
              <c:f>Sheet1!$B$2:$B$6</c:f>
              <c:numCache>
                <c:formatCode>#,##0_ </c:formatCode>
                <c:ptCount val="5"/>
                <c:pt idx="0">
                  <c:v>71325</c:v>
                </c:pt>
                <c:pt idx="1">
                  <c:v>59080</c:v>
                </c:pt>
                <c:pt idx="2">
                  <c:v>56480</c:v>
                </c:pt>
                <c:pt idx="3">
                  <c:v>53672</c:v>
                </c:pt>
                <c:pt idx="4">
                  <c:v>45495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D-4BF0-B95B-73D66B838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960240"/>
        <c:axId val="574960632"/>
      </c:barChart>
      <c:catAx>
        <c:axId val="574960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60632"/>
        <c:crosses val="autoZero"/>
        <c:auto val="1"/>
        <c:lblAlgn val="ctr"/>
        <c:lblOffset val="100"/>
        <c:noMultiLvlLbl val="0"/>
      </c:catAx>
      <c:valAx>
        <c:axId val="574960632"/>
        <c:scaling>
          <c:orientation val="minMax"/>
          <c:max val="1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6024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0" b="0" i="0" u="none" strike="noStrike" kern="1200" spc="0" baseline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pPr>
            <a:r>
              <a:rPr lang="ko-KR" altLang="en-US" sz="1860" b="0" i="0" baseline="0" dirty="0" err="1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비가동</a:t>
            </a:r>
            <a:r>
              <a:rPr lang="ko-KR" altLang="en-US" sz="1860" b="0" i="0" baseline="0" dirty="0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860" b="0" i="0" baseline="0" dirty="0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ITEM</a:t>
            </a:r>
            <a:r>
              <a:rPr lang="ko-KR" altLang="ko-KR" sz="1860" b="0" i="0" baseline="0" dirty="0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860" b="0" i="0" baseline="0" dirty="0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TOP5</a:t>
            </a:r>
            <a:endParaRPr lang="ko-KR" altLang="ko-KR" sz="1860" baseline="0" dirty="0">
              <a:solidFill>
                <a:schemeClr val="tx1"/>
              </a:solidFill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c:rich>
      </c:tx>
      <c:layout>
        <c:manualLayout>
          <c:xMode val="edge"/>
          <c:yMode val="edge"/>
          <c:x val="0.28320352949943084"/>
          <c:y val="1.2152786720772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0" b="0" i="0" u="none" strike="noStrike" kern="1200" spc="0" baseline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331779627264715"/>
          <c:y val="0.22284256336230004"/>
          <c:w val="0.83092577413362045"/>
          <c:h val="0.52274338362587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IK 9830</c:v>
                </c:pt>
                <c:pt idx="1">
                  <c:v>MV-DO650</c:v>
                </c:pt>
                <c:pt idx="2">
                  <c:v>ME-GO010</c:v>
                </c:pt>
                <c:pt idx="3">
                  <c:v>RG3 614836</c:v>
                </c:pt>
                <c:pt idx="4">
                  <c:v>NX4 N9080</c:v>
                </c:pt>
              </c:strCache>
            </c:strRef>
          </c:cat>
          <c:val>
            <c:numRef>
              <c:f>Sheet1!$B$2:$B$6</c:f>
              <c:numCache>
                <c:formatCode>#,##0_ </c:formatCode>
                <c:ptCount val="5"/>
                <c:pt idx="0">
                  <c:v>3105</c:v>
                </c:pt>
                <c:pt idx="1">
                  <c:v>2040</c:v>
                </c:pt>
                <c:pt idx="2">
                  <c:v>1790</c:v>
                </c:pt>
                <c:pt idx="3">
                  <c:v>1760</c:v>
                </c:pt>
                <c:pt idx="4">
                  <c:v>1678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D-4BF0-B95B-73D66B838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961416"/>
        <c:axId val="574961808"/>
      </c:barChart>
      <c:catAx>
        <c:axId val="57496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61808"/>
        <c:crosses val="autoZero"/>
        <c:auto val="0"/>
        <c:lblAlgn val="ctr"/>
        <c:lblOffset val="100"/>
        <c:noMultiLvlLbl val="0"/>
      </c:catAx>
      <c:valAx>
        <c:axId val="57496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6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0" b="0" i="0" u="none" strike="noStrike" kern="1200" spc="0" baseline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pPr>
            <a:r>
              <a:rPr lang="ko-KR" altLang="en-US" sz="1860" b="0" i="0" baseline="0" dirty="0" err="1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비가동</a:t>
            </a:r>
            <a:r>
              <a:rPr lang="ko-KR" altLang="en-US" sz="1860" b="0" i="0" baseline="0" dirty="0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860" b="0" i="0" baseline="0" dirty="0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ITEM</a:t>
            </a:r>
            <a:r>
              <a:rPr lang="ko-KR" altLang="ko-KR" sz="1860" b="0" i="0" baseline="0" dirty="0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860" b="0" i="0" baseline="0" dirty="0">
                <a:solidFill>
                  <a:schemeClr val="tx1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TOP5</a:t>
            </a:r>
            <a:endParaRPr lang="ko-KR" altLang="ko-KR" sz="1860" baseline="0" dirty="0">
              <a:solidFill>
                <a:schemeClr val="tx1"/>
              </a:solidFill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c:rich>
      </c:tx>
      <c:layout>
        <c:manualLayout>
          <c:xMode val="edge"/>
          <c:yMode val="edge"/>
          <c:x val="0.23679886469201888"/>
          <c:y val="1.2152786720772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0" b="0" i="0" u="none" strike="noStrike" kern="1200" spc="0" baseline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3971685243218432"/>
          <c:y val="0.19264881220081143"/>
          <c:w val="0.82460043406731087"/>
          <c:h val="0.660416982835922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R600019</c:v>
                </c:pt>
                <c:pt idx="1">
                  <c:v>680449</c:v>
                </c:pt>
                <c:pt idx="2">
                  <c:v>680450</c:v>
                </c:pt>
                <c:pt idx="3">
                  <c:v>682622</c:v>
                </c:pt>
                <c:pt idx="4">
                  <c:v>680604</c:v>
                </c:pt>
              </c:strCache>
            </c:strRef>
          </c:cat>
          <c:val>
            <c:numRef>
              <c:f>Sheet1!$B$2:$B$6</c:f>
              <c:numCache>
                <c:formatCode>#,##0_ </c:formatCode>
                <c:ptCount val="5"/>
                <c:pt idx="0">
                  <c:v>810.00000000000011</c:v>
                </c:pt>
                <c:pt idx="1">
                  <c:v>755.00000000000023</c:v>
                </c:pt>
                <c:pt idx="2">
                  <c:v>705.00000000000011</c:v>
                </c:pt>
                <c:pt idx="3">
                  <c:v>615.00000000000011</c:v>
                </c:pt>
                <c:pt idx="4">
                  <c:v>570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D-4BF0-B95B-73D66B838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962984"/>
        <c:axId val="574963376"/>
      </c:barChart>
      <c:catAx>
        <c:axId val="574962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63376"/>
        <c:crosses val="autoZero"/>
        <c:auto val="1"/>
        <c:lblAlgn val="ctr"/>
        <c:lblOffset val="100"/>
        <c:noMultiLvlLbl val="0"/>
      </c:catAx>
      <c:valAx>
        <c:axId val="574963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62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pPr>
            <a:r>
              <a:rPr lang="ko-KR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총 작업시간 </a:t>
            </a:r>
            <a:r>
              <a:rPr lang="en-US" b="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TOP5</a:t>
            </a:r>
          </a:p>
        </c:rich>
      </c:tx>
      <c:layout>
        <c:manualLayout>
          <c:xMode val="edge"/>
          <c:yMode val="edge"/>
          <c:x val="0.32528645653731425"/>
          <c:y val="3.52260430217367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479093833461195"/>
          <c:y val="0.22299353211810749"/>
          <c:w val="0.82199155756942754"/>
          <c:h val="0.669608642228219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R600070</c:v>
                </c:pt>
                <c:pt idx="1">
                  <c:v>685390</c:v>
                </c:pt>
                <c:pt idx="2">
                  <c:v>681114</c:v>
                </c:pt>
                <c:pt idx="3">
                  <c:v>R602252</c:v>
                </c:pt>
                <c:pt idx="4">
                  <c:v>R600050</c:v>
                </c:pt>
              </c:strCache>
            </c:strRef>
          </c:cat>
          <c:val>
            <c:numRef>
              <c:f>Sheet1!$B$2:$B$6</c:f>
              <c:numCache>
                <c:formatCode>#,##0_ </c:formatCode>
                <c:ptCount val="5"/>
                <c:pt idx="0">
                  <c:v>39590</c:v>
                </c:pt>
                <c:pt idx="1">
                  <c:v>38720</c:v>
                </c:pt>
                <c:pt idx="2">
                  <c:v>34630</c:v>
                </c:pt>
                <c:pt idx="3">
                  <c:v>29712</c:v>
                </c:pt>
                <c:pt idx="4">
                  <c:v>26940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D-4BF0-B95B-73D66B838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964160"/>
        <c:axId val="574964552"/>
      </c:barChart>
      <c:catAx>
        <c:axId val="574964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64552"/>
        <c:crosses val="autoZero"/>
        <c:auto val="1"/>
        <c:lblAlgn val="ctr"/>
        <c:lblOffset val="100"/>
        <c:noMultiLvlLbl val="0"/>
      </c:catAx>
      <c:valAx>
        <c:axId val="574964552"/>
        <c:scaling>
          <c:orientation val="minMax"/>
          <c:max val="8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496416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b="1" dirty="0" err="1"/>
              <a:t>검사품목</a:t>
            </a:r>
            <a:endParaRPr lang="ko-KR" alt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4월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58-4323-88EE-AF66B65FF016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5월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58-4323-88EE-AF66B65FF0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257000"/>
        <c:axId val="571256608"/>
      </c:barChart>
      <c:catAx>
        <c:axId val="5712570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1256608"/>
        <c:crosses val="autoZero"/>
        <c:auto val="1"/>
        <c:lblAlgn val="ctr"/>
        <c:lblOffset val="100"/>
        <c:noMultiLvlLbl val="0"/>
      </c:catAx>
      <c:valAx>
        <c:axId val="571256608"/>
        <c:scaling>
          <c:orientation val="minMax"/>
          <c:max val="200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257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b="1" dirty="0" err="1"/>
              <a:t>검사수량</a:t>
            </a:r>
            <a:endParaRPr lang="ko-KR" alt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27068886182162677"/>
          <c:y val="0.19126022696724415"/>
          <c:w val="0.67431046149681961"/>
          <c:h val="0.670142533627774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4월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15367352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99-494D-8BBE-404F564D274C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5월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8733340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99-494D-8BBE-404F564D27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250336"/>
        <c:axId val="571249944"/>
      </c:barChart>
      <c:catAx>
        <c:axId val="5712503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1249944"/>
        <c:crosses val="autoZero"/>
        <c:auto val="1"/>
        <c:lblAlgn val="ctr"/>
        <c:lblOffset val="100"/>
        <c:noMultiLvlLbl val="0"/>
      </c:catAx>
      <c:valAx>
        <c:axId val="571249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1250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b="1" dirty="0"/>
              <a:t>검사시간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4월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312349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4A-4D0E-9923-DA2C246B82C5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5월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348997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5E-4605-AB85-ECE6E871CE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2210336"/>
        <c:axId val="572209944"/>
      </c:barChart>
      <c:catAx>
        <c:axId val="5722103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2209944"/>
        <c:crosses val="autoZero"/>
        <c:auto val="1"/>
        <c:lblAlgn val="ctr"/>
        <c:lblOffset val="100"/>
        <c:noMultiLvlLbl val="0"/>
      </c:catAx>
      <c:valAx>
        <c:axId val="572209944"/>
        <c:scaling>
          <c:orientation val="minMax"/>
          <c:min val="1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2210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b="1" dirty="0" err="1"/>
              <a:t>검사품목</a:t>
            </a:r>
            <a:endParaRPr lang="ko-KR" alt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3628005593900844"/>
          <c:y val="0.1876852747153761"/>
          <c:w val="0.81330265710290073"/>
          <c:h val="0.670142533627774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4월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58-4323-88EE-AF66B65FF016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5월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D-424B-A388-CC214F6D07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2207592"/>
        <c:axId val="572207200"/>
      </c:barChart>
      <c:catAx>
        <c:axId val="5722075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2207200"/>
        <c:crosses val="autoZero"/>
        <c:auto val="1"/>
        <c:lblAlgn val="ctr"/>
        <c:lblOffset val="100"/>
        <c:noMultiLvlLbl val="0"/>
      </c:catAx>
      <c:valAx>
        <c:axId val="572207200"/>
        <c:scaling>
          <c:orientation val="minMax"/>
          <c:max val="90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2207592"/>
        <c:crosses val="autoZero"/>
        <c:crossBetween val="between"/>
        <c:majorUnit val="5"/>
        <c:min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b="1" dirty="0" err="1"/>
              <a:t>검사수량</a:t>
            </a:r>
            <a:endParaRPr lang="ko-KR" alt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4월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40392395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99-494D-8BBE-404F564D274C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5월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#,##0</c:formatCode>
                <c:ptCount val="1"/>
                <c:pt idx="0">
                  <c:v>46983318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E6-4218-B108-6F8087650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2206416"/>
        <c:axId val="572205632"/>
      </c:barChart>
      <c:catAx>
        <c:axId val="5722064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2205632"/>
        <c:crosses val="autoZero"/>
        <c:auto val="1"/>
        <c:lblAlgn val="ctr"/>
        <c:lblOffset val="100"/>
        <c:noMultiLvlLbl val="0"/>
      </c:catAx>
      <c:valAx>
        <c:axId val="572205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2206416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b="1" dirty="0"/>
              <a:t>검사시간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4월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218027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4A-4D0E-9923-DA2C246B82C5}"/>
            </c:ext>
          </c:extLst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5월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184267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BA-4619-97BD-25A183AAB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2204848"/>
        <c:axId val="572204456"/>
      </c:barChart>
      <c:catAx>
        <c:axId val="5722048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2204456"/>
        <c:crosses val="autoZero"/>
        <c:auto val="1"/>
        <c:lblAlgn val="ctr"/>
        <c:lblOffset val="100"/>
        <c:noMultiLvlLbl val="0"/>
      </c:catAx>
      <c:valAx>
        <c:axId val="572204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2204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18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6C412EF-C1D1-43F6-9C97-97621C6CC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6" y="5"/>
            <a:ext cx="2946078" cy="498145"/>
          </a:xfrm>
          <a:prstGeom prst="rect">
            <a:avLst/>
          </a:prstGeom>
        </p:spPr>
        <p:txBody>
          <a:bodyPr vert="horz" lIns="90673" tIns="45337" rIns="90673" bIns="4533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15A70B-2E3B-41FD-88E8-3D3F046D3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33" y="5"/>
            <a:ext cx="2946078" cy="498145"/>
          </a:xfrm>
          <a:prstGeom prst="rect">
            <a:avLst/>
          </a:prstGeom>
        </p:spPr>
        <p:txBody>
          <a:bodyPr vert="horz" lIns="90673" tIns="45337" rIns="90673" bIns="45337" rtlCol="0"/>
          <a:lstStyle>
            <a:lvl1pPr algn="r">
              <a:defRPr sz="1200"/>
            </a:lvl1pPr>
          </a:lstStyle>
          <a:p>
            <a:fld id="{28BA27D1-954A-4DF3-A456-96F767CF750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DD0371-1EB2-4066-BA86-A99C859C37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6" y="9428497"/>
            <a:ext cx="2946078" cy="498145"/>
          </a:xfrm>
          <a:prstGeom prst="rect">
            <a:avLst/>
          </a:prstGeom>
        </p:spPr>
        <p:txBody>
          <a:bodyPr vert="horz" lIns="90673" tIns="45337" rIns="90673" bIns="4533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AACEA4-5EFD-4D2F-92BC-D8B793BA27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33" y="9428497"/>
            <a:ext cx="2946078" cy="498145"/>
          </a:xfrm>
          <a:prstGeom prst="rect">
            <a:avLst/>
          </a:prstGeom>
        </p:spPr>
        <p:txBody>
          <a:bodyPr vert="horz" lIns="90673" tIns="45337" rIns="90673" bIns="45337" rtlCol="0" anchor="b"/>
          <a:lstStyle>
            <a:lvl1pPr algn="r">
              <a:defRPr sz="1200"/>
            </a:lvl1pPr>
          </a:lstStyle>
          <a:p>
            <a:fld id="{08452BC4-562D-49BB-B7F3-E6E0B0460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631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5659" cy="498056"/>
          </a:xfrm>
          <a:prstGeom prst="rect">
            <a:avLst/>
          </a:prstGeom>
        </p:spPr>
        <p:txBody>
          <a:bodyPr vert="horz" lIns="95527" tIns="47763" rIns="95527" bIns="4776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3"/>
            <a:ext cx="2945659" cy="498056"/>
          </a:xfrm>
          <a:prstGeom prst="rect">
            <a:avLst/>
          </a:prstGeom>
        </p:spPr>
        <p:txBody>
          <a:bodyPr vert="horz" lIns="95527" tIns="47763" rIns="95527" bIns="47763" rtlCol="0"/>
          <a:lstStyle>
            <a:lvl1pPr algn="r">
              <a:defRPr sz="1300"/>
            </a:lvl1pPr>
          </a:lstStyle>
          <a:p>
            <a:fld id="{EF2EE0A4-FBDF-4EE3-8E79-6BB676ABE3D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27" tIns="47763" rIns="95527" bIns="4776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9"/>
            <a:ext cx="5438140" cy="3908614"/>
          </a:xfrm>
          <a:prstGeom prst="rect">
            <a:avLst/>
          </a:prstGeom>
        </p:spPr>
        <p:txBody>
          <a:bodyPr vert="horz" lIns="95527" tIns="47763" rIns="95527" bIns="47763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8584"/>
            <a:ext cx="2945659" cy="498055"/>
          </a:xfrm>
          <a:prstGeom prst="rect">
            <a:avLst/>
          </a:prstGeom>
        </p:spPr>
        <p:txBody>
          <a:bodyPr vert="horz" lIns="95527" tIns="47763" rIns="95527" bIns="4776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4"/>
            <a:ext cx="2945659" cy="498055"/>
          </a:xfrm>
          <a:prstGeom prst="rect">
            <a:avLst/>
          </a:prstGeom>
        </p:spPr>
        <p:txBody>
          <a:bodyPr vert="horz" lIns="95527" tIns="47763" rIns="95527" bIns="47763" rtlCol="0" anchor="b"/>
          <a:lstStyle>
            <a:lvl1pPr algn="r">
              <a:defRPr sz="1300"/>
            </a:lvl1pPr>
          </a:lstStyle>
          <a:p>
            <a:fld id="{C64F96BC-3270-4594-BC13-43BE93F2D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59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31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844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069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206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989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243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892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9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203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182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41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042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663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631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26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613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976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4195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023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463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342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0180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7285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5453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F96BC-3270-4594-BC13-43BE93F2D94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541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D2FA4-8095-44F6-9BED-1958F2DA18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54" t="-49" r="1" b="25117"/>
          <a:stretch/>
        </p:blipFill>
        <p:spPr>
          <a:xfrm>
            <a:off x="0" y="4709032"/>
            <a:ext cx="9144000" cy="2148968"/>
          </a:xfrm>
          <a:prstGeom prst="rect">
            <a:avLst/>
          </a:prstGeom>
        </p:spPr>
      </p:pic>
      <p:pic>
        <p:nvPicPr>
          <p:cNvPr id="3" name="Picture 17" descr="로고최종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74" t="61784" r="18285" b="20341"/>
          <a:stretch>
            <a:fillRect/>
          </a:stretch>
        </p:blipFill>
        <p:spPr bwMode="auto">
          <a:xfrm>
            <a:off x="7532688" y="268288"/>
            <a:ext cx="1462087" cy="385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7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8227791" y="6484256"/>
            <a:ext cx="897330" cy="365125"/>
          </a:xfrm>
          <a:prstGeom prst="rect">
            <a:avLst/>
          </a:prstGeom>
        </p:spPr>
        <p:txBody>
          <a:bodyPr vert="horz" lIns="84406" tIns="42203" rIns="84406" bIns="42203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03A648-87F7-4A7A-8D1F-864E6A4DA824}" type="slidenum">
              <a:rPr kumimoji="0" lang="ko-KR" altLang="en-US" sz="1108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844083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108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125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79D7487-F701-4233-B744-9A42438241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8113"/>
          <a:stretch/>
        </p:blipFill>
        <p:spPr>
          <a:xfrm>
            <a:off x="0" y="0"/>
            <a:ext cx="9144000" cy="146417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3EC41-B8B0-4C3A-9736-8AE5DB25AAC5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AA790-7A9A-4F9E-B70A-594707DBFF7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1BC071-E932-4FDB-9332-47065F3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3" r="49968" b="96323"/>
          <a:stretch/>
        </p:blipFill>
        <p:spPr>
          <a:xfrm>
            <a:off x="133496" y="713699"/>
            <a:ext cx="8846792" cy="4571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4746CB0-E52B-428A-A228-38D105CC3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-154" t="-49" r="1" b="8290"/>
          <a:stretch/>
        </p:blipFill>
        <p:spPr>
          <a:xfrm>
            <a:off x="0" y="4762500"/>
            <a:ext cx="9144000" cy="209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4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chart" Target="../charts/char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chart" Target="../charts/char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slide" Target="slide2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slide" Target="slide2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slide" Target="slide2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slide" Target="slide2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slide" Target="slide2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slide" Target="slide2.xml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3.xml"/><Relationship Id="rId4" Type="http://schemas.openxmlformats.org/officeDocument/2006/relationships/chart" Target="../charts/chart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>
            <a:extLst>
              <a:ext uri="{FF2B5EF4-FFF2-40B4-BE49-F238E27FC236}">
                <a16:creationId xmlns:a16="http://schemas.microsoft.com/office/drawing/2014/main" id="{00000000-0008-0000-0100-000005000000}"/>
              </a:ext>
            </a:extLst>
          </p:cNvPr>
          <p:cNvSpPr txBox="1"/>
          <p:nvPr/>
        </p:nvSpPr>
        <p:spPr>
          <a:xfrm>
            <a:off x="1467715" y="2550451"/>
            <a:ext cx="6208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2026</a:t>
            </a:r>
            <a:r>
              <a:rPr lang="ko-KR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년 </a:t>
            </a:r>
            <a:r>
              <a:rPr lang="en-US" altLang="ko-KR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5</a:t>
            </a:r>
            <a:r>
              <a:rPr lang="ko-KR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월 </a:t>
            </a:r>
            <a:r>
              <a:rPr lang="en-US" altLang="ko-KR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KPI</a:t>
            </a:r>
            <a:endParaRPr lang="ko-KR" altLang="en-US" sz="3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pSpPr/>
          <p:nvPr/>
        </p:nvGrpSpPr>
        <p:grpSpPr>
          <a:xfrm>
            <a:off x="841595" y="3410915"/>
            <a:ext cx="7408641" cy="140594"/>
            <a:chOff x="0" y="0"/>
            <a:chExt cx="5412605" cy="12191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0000000-0008-0000-0100-000003000000}"/>
                </a:ext>
              </a:extLst>
            </p:cNvPr>
            <p:cNvSpPr/>
            <p:nvPr/>
          </p:nvSpPr>
          <p:spPr>
            <a:xfrm flipV="1">
              <a:off x="303768" y="0"/>
              <a:ext cx="5108837" cy="45719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0000000-0008-0000-0100-000004000000}"/>
                </a:ext>
              </a:extLst>
            </p:cNvPr>
            <p:cNvSpPr/>
            <p:nvPr/>
          </p:nvSpPr>
          <p:spPr>
            <a:xfrm flipV="1">
              <a:off x="0" y="76200"/>
              <a:ext cx="5108837" cy="45719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pic>
        <p:nvPicPr>
          <p:cNvPr id="13" name="Picture 17" descr="로고최종">
            <a:extLst>
              <a:ext uri="{FF2B5EF4-FFF2-40B4-BE49-F238E27FC236}">
                <a16:creationId xmlns:a16="http://schemas.microsoft.com/office/drawing/2014/main" id="{00000000-0008-0000-0100-0000060000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77" t="64474" r="18284" b="22444"/>
          <a:stretch/>
        </p:blipFill>
        <p:spPr bwMode="auto">
          <a:xfrm>
            <a:off x="3432976" y="3733555"/>
            <a:ext cx="2445825" cy="45946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00000-0008-0000-0100-000014000000}"/>
              </a:ext>
            </a:extLst>
          </p:cNvPr>
          <p:cNvSpPr/>
          <p:nvPr/>
        </p:nvSpPr>
        <p:spPr>
          <a:xfrm>
            <a:off x="3120557" y="4375067"/>
            <a:ext cx="2902883" cy="718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b="1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   서 </a:t>
            </a:r>
            <a:r>
              <a:rPr lang="en-US" altLang="ko-KR" sz="2000" b="1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sz="2000" b="1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생산 관리</a:t>
            </a:r>
            <a:endParaRPr lang="en-US" altLang="ko-KR" sz="2000" b="1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972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379728"/>
              </p:ext>
            </p:extLst>
          </p:nvPr>
        </p:nvGraphicFramePr>
        <p:xfrm>
          <a:off x="177800" y="807900"/>
          <a:ext cx="8751550" cy="139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1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5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관리지표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설비종합효율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성능가동률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시간가동률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양품율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(%)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MTTR</a:t>
                      </a:r>
                    </a:p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설비복구시간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(min)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MTBF</a:t>
                      </a:r>
                    </a:p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고장간격시간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en-US" altLang="ko-KR" sz="1100" b="1" baseline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43.9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55.4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79.5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99.7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154.5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373.7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47.4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57.5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82.8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99.6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197.6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384.1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5967"/>
                  </a:ext>
                </a:extLst>
              </a:tr>
              <a:tr h="292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변동 내역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+3.5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+2.1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+3.3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-0.1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092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+43.1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+10.4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01F5A63-FEDB-479C-9199-0895A889F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421774"/>
              </p:ext>
            </p:extLst>
          </p:nvPr>
        </p:nvGraphicFramePr>
        <p:xfrm>
          <a:off x="177800" y="2602411"/>
          <a:ext cx="4211320" cy="3962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5504">
                  <a:extLst>
                    <a:ext uri="{9D8B030D-6E8A-4147-A177-3AD203B41FA5}">
                      <a16:colId xmlns:a16="http://schemas.microsoft.com/office/drawing/2014/main" val="1442229186"/>
                    </a:ext>
                  </a:extLst>
                </a:gridCol>
                <a:gridCol w="1647908">
                  <a:extLst>
                    <a:ext uri="{9D8B030D-6E8A-4147-A177-3AD203B41FA5}">
                      <a16:colId xmlns:a16="http://schemas.microsoft.com/office/drawing/2014/main" val="314365198"/>
                    </a:ext>
                  </a:extLst>
                </a:gridCol>
                <a:gridCol w="1647908">
                  <a:extLst>
                    <a:ext uri="{9D8B030D-6E8A-4147-A177-3AD203B41FA5}">
                      <a16:colId xmlns:a16="http://schemas.microsoft.com/office/drawing/2014/main" val="1357115337"/>
                    </a:ext>
                  </a:extLst>
                </a:gridCol>
              </a:tblGrid>
              <a:tr h="25319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Press 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7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공정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성능가동률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시간가동률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4474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P-01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50.2%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54.4%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5595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87.8%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98.9%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P-04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70.6%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89.8%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95.3%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5565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78.2%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97.3%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33.9%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46.1%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1698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75.8%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90.6%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56.1%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51172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70.3%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5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61.7%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99.2%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8877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60.7%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93.8%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16774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50.3%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98.6%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62.3%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94.6%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4272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58.3%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92.4%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23.8%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32.4%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470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72.8%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96.9%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322310"/>
                  </a:ext>
                </a:extLst>
              </a:tr>
              <a:tr h="25035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60.1%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83.9%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293819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53733C66-64A3-463C-8999-6086EFDEA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737524"/>
              </p:ext>
            </p:extLst>
          </p:nvPr>
        </p:nvGraphicFramePr>
        <p:xfrm>
          <a:off x="4825998" y="2602401"/>
          <a:ext cx="4103349" cy="34382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737">
                  <a:extLst>
                    <a:ext uri="{9D8B030D-6E8A-4147-A177-3AD203B41FA5}">
                      <a16:colId xmlns:a16="http://schemas.microsoft.com/office/drawing/2014/main" val="1442229186"/>
                    </a:ext>
                  </a:extLst>
                </a:gridCol>
                <a:gridCol w="1351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80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Injection 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공정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성능가동률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시간가동률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44740"/>
                  </a:ext>
                </a:extLst>
              </a:tr>
              <a:tr h="1991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75.7%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96.5%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55954"/>
                  </a:ext>
                </a:extLst>
              </a:tr>
              <a:tr h="1934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69.3%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90.8%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1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37.3%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56.6%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55652"/>
                  </a:ext>
                </a:extLst>
              </a:tr>
              <a:tr h="1820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29.2%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44.9%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5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49.3%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80.5%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59.9%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98.5%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42.5%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66.5%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66.1%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99.7%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34.8%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57.5%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30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56.2%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94.4%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87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64.9%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93.1%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511723"/>
                  </a:ext>
                </a:extLst>
              </a:tr>
              <a:tr h="1687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67.1%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94.9%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7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61.3%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87.0%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87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15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54.9%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81.6%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1C6357B8-09B2-441B-AC59-F5A01BE76428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설비 가동률</a:t>
            </a:r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_</a:t>
            </a:r>
            <a:r>
              <a:rPr lang="en-US" altLang="ko-KR" sz="2400" b="1" dirty="0">
                <a:solidFill>
                  <a:srgbClr val="4472C4">
                    <a:lumMod val="75000"/>
                  </a:srgb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GROMMET</a:t>
            </a:r>
            <a:r>
              <a:rPr lang="ko-KR" altLang="en-US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CA93F-0E7B-4CFA-84AA-9768017AEB80}"/>
              </a:ext>
            </a:extLst>
          </p:cNvPr>
          <p:cNvSpPr txBox="1"/>
          <p:nvPr/>
        </p:nvSpPr>
        <p:spPr>
          <a:xfrm>
            <a:off x="6187370" y="6509096"/>
            <a:ext cx="30844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성능가동률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야 </a:t>
            </a:r>
            <a:r>
              <a:rPr lang="en-US" altLang="ko-KR" sz="1300" b="1" dirty="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240SHOT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기준</a:t>
            </a:r>
            <a:endParaRPr lang="en-US" altLang="ko-KR" sz="1300" b="1" dirty="0">
              <a:solidFill>
                <a:prstClr val="black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15497" y="2152866"/>
            <a:ext cx="2268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2000" dirty="0" err="1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설비별</a:t>
            </a:r>
            <a:r>
              <a:rPr lang="ko-KR" altLang="en-US" sz="2000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참고자료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4300" y="2523413"/>
            <a:ext cx="8939084" cy="427807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1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01F5A63-FEDB-479C-9199-0895A889F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965962"/>
              </p:ext>
            </p:extLst>
          </p:nvPr>
        </p:nvGraphicFramePr>
        <p:xfrm>
          <a:off x="177800" y="1511583"/>
          <a:ext cx="4211320" cy="4418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5504">
                  <a:extLst>
                    <a:ext uri="{9D8B030D-6E8A-4147-A177-3AD203B41FA5}">
                      <a16:colId xmlns:a16="http://schemas.microsoft.com/office/drawing/2014/main" val="1442229186"/>
                    </a:ext>
                  </a:extLst>
                </a:gridCol>
                <a:gridCol w="1647908">
                  <a:extLst>
                    <a:ext uri="{9D8B030D-6E8A-4147-A177-3AD203B41FA5}">
                      <a16:colId xmlns:a16="http://schemas.microsoft.com/office/drawing/2014/main" val="314365198"/>
                    </a:ext>
                  </a:extLst>
                </a:gridCol>
                <a:gridCol w="1647908">
                  <a:extLst>
                    <a:ext uri="{9D8B030D-6E8A-4147-A177-3AD203B41FA5}">
                      <a16:colId xmlns:a16="http://schemas.microsoft.com/office/drawing/2014/main" val="1357115337"/>
                    </a:ext>
                  </a:extLst>
                </a:gridCol>
              </a:tblGrid>
              <a:tr h="28972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Press 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6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공정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MTTR [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설비복구시간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 (min)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MTBF [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고장간격거리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 (</a:t>
                      </a:r>
                      <a:r>
                        <a:rPr lang="en-US" altLang="ko-KR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hr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44740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P-01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55954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P-04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90.7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191.1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55652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523.5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1698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511723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532.5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347.5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527.5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88773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307.3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178.6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234.4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167740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299.1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42725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531.3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47014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GP-15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175.7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322310"/>
                  </a:ext>
                </a:extLst>
              </a:tr>
              <a:tr h="202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평균</a:t>
                      </a:r>
                      <a:endParaRPr lang="en-US" sz="1000" b="0" i="0" u="none" strike="noStrike" dirty="0">
                        <a:solidFill>
                          <a:srgbClr val="FFFF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207.3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381.4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04597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53733C66-64A3-463C-8999-6086EFDEA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108234"/>
              </p:ext>
            </p:extLst>
          </p:nvPr>
        </p:nvGraphicFramePr>
        <p:xfrm>
          <a:off x="4825998" y="1511566"/>
          <a:ext cx="4103349" cy="3337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737">
                  <a:extLst>
                    <a:ext uri="{9D8B030D-6E8A-4147-A177-3AD203B41FA5}">
                      <a16:colId xmlns:a16="http://schemas.microsoft.com/office/drawing/2014/main" val="1442229186"/>
                    </a:ext>
                  </a:extLst>
                </a:gridCol>
                <a:gridCol w="1351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90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Injection 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3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공정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MTTR [</a:t>
                      </a:r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설비복구시간</a:t>
                      </a:r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 (min)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MTBF [</a:t>
                      </a:r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고장간격거리</a:t>
                      </a:r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 (</a:t>
                      </a:r>
                      <a:r>
                        <a:rPr lang="en-US" altLang="ko-K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hr</a:t>
                      </a:r>
                      <a:r>
                        <a:rPr lang="en-US" altLang="ko-K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44740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112933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168465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354020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394990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194004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530.7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828062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55954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55652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1698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94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IN-14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66199"/>
                  </a:ext>
                </a:extLst>
              </a:tr>
              <a:tr h="8177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평균</a:t>
                      </a:r>
                      <a:endParaRPr lang="en-US" sz="1000" b="0" i="0" u="none" strike="noStrike" dirty="0">
                        <a:solidFill>
                          <a:srgbClr val="FFFF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397.4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675474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1C6357B8-09B2-441B-AC59-F5A01BE76428}"/>
              </a:ext>
            </a:extLst>
          </p:cNvPr>
          <p:cNvSpPr txBox="1"/>
          <p:nvPr/>
        </p:nvSpPr>
        <p:spPr>
          <a:xfrm>
            <a:off x="114300" y="177578"/>
            <a:ext cx="638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sz="2400" b="1" dirty="0" err="1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설비별</a:t>
            </a:r>
            <a:r>
              <a:rPr lang="ko-KR" altLang="en-US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MTTR, MTBF_</a:t>
            </a:r>
            <a:r>
              <a:rPr lang="en-US" altLang="ko-KR" sz="2400" b="1" dirty="0">
                <a:solidFill>
                  <a:srgbClr val="4472C4">
                    <a:lumMod val="75000"/>
                  </a:srgb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GROMMET</a:t>
            </a:r>
            <a:r>
              <a:rPr lang="ko-KR" altLang="en-US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99" y="886254"/>
            <a:ext cx="2704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※</a:t>
            </a:r>
            <a:r>
              <a:rPr lang="ko-KR" altLang="en-US" sz="2000" dirty="0" err="1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설비별</a:t>
            </a:r>
            <a:r>
              <a:rPr lang="ko-KR" altLang="en-US" sz="2000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참고 자료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4300" y="1451294"/>
            <a:ext cx="8939084" cy="53509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A251F0F-BCB7-46D0-94B0-CA36DC9ED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74816"/>
              </p:ext>
            </p:extLst>
          </p:nvPr>
        </p:nvGraphicFramePr>
        <p:xfrm>
          <a:off x="5998127" y="925220"/>
          <a:ext cx="3031574" cy="48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918">
                  <a:extLst>
                    <a:ext uri="{9D8B030D-6E8A-4147-A177-3AD203B41FA5}">
                      <a16:colId xmlns:a16="http://schemas.microsoft.com/office/drawing/2014/main" val="2175056962"/>
                    </a:ext>
                  </a:extLst>
                </a:gridCol>
                <a:gridCol w="1158338">
                  <a:extLst>
                    <a:ext uri="{9D8B030D-6E8A-4147-A177-3AD203B41FA5}">
                      <a16:colId xmlns:a16="http://schemas.microsoft.com/office/drawing/2014/main" val="376182177"/>
                    </a:ext>
                  </a:extLst>
                </a:gridCol>
                <a:gridCol w="1157318">
                  <a:extLst>
                    <a:ext uri="{9D8B030D-6E8A-4147-A177-3AD203B41FA5}">
                      <a16:colId xmlns:a16="http://schemas.microsoft.com/office/drawing/2014/main" val="3596259317"/>
                    </a:ext>
                  </a:extLst>
                </a:gridCol>
              </a:tblGrid>
              <a:tr h="243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月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MTTR</a:t>
                      </a:r>
                    </a:p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설비복구시간</a:t>
                      </a: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(min)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MTBF</a:t>
                      </a:r>
                    </a:p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고장간격시간</a:t>
                      </a: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en-US" altLang="ko-KR" sz="700" b="1" baseline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Hr</a:t>
                      </a: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8731"/>
                  </a:ext>
                </a:extLst>
              </a:tr>
              <a:tr h="156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7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endParaRPr lang="en-US" altLang="ko-KR" sz="7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154.5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373.7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114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47E509C-30A3-4645-A2B9-8A2325FBD951}"/>
              </a:ext>
            </a:extLst>
          </p:cNvPr>
          <p:cNvSpPr txBox="1"/>
          <p:nvPr/>
        </p:nvSpPr>
        <p:spPr>
          <a:xfrm>
            <a:off x="177800" y="6094522"/>
            <a:ext cx="875154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관리기준</a:t>
            </a:r>
            <a:endParaRPr lang="en-US" altLang="ko-KR" sz="1300" b="1" dirty="0">
              <a:solidFill>
                <a:prstClr val="black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-MTTR : </a:t>
            </a:r>
            <a:r>
              <a:rPr lang="ko-KR" altLang="en-US" sz="1300" b="1" dirty="0" err="1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설비별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300" b="1" dirty="0">
                <a:solidFill>
                  <a:srgbClr val="FF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1,440min </a:t>
            </a:r>
            <a:r>
              <a:rPr lang="ko-KR" altLang="en-US" sz="1300" b="1" dirty="0">
                <a:solidFill>
                  <a:srgbClr val="FF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초과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발생시 설비점검 진행 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[1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日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=24hr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기준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</a:p>
          <a:p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-MTBF : </a:t>
            </a:r>
            <a:r>
              <a:rPr lang="ko-KR" altLang="en-US" sz="1300" b="1" dirty="0" err="1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설비별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300" b="1" dirty="0">
                <a:solidFill>
                  <a:srgbClr val="FF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48hr </a:t>
            </a:r>
            <a:r>
              <a:rPr lang="ko-KR" altLang="en-US" sz="1300" b="1" dirty="0">
                <a:solidFill>
                  <a:srgbClr val="FF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미만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발생시 설비점검 진행 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[2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日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=48hr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기준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]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94221-480E-4DAB-96B3-ADB7434BEE7D}"/>
              </a:ext>
            </a:extLst>
          </p:cNvPr>
          <p:cNvSpPr txBox="1"/>
          <p:nvPr/>
        </p:nvSpPr>
        <p:spPr>
          <a:xfrm>
            <a:off x="5908815" y="727339"/>
            <a:ext cx="19181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Grommet </a:t>
            </a:r>
            <a:r>
              <a:rPr lang="ko-KR" altLang="en-US" sz="9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전체 설비 평균값</a:t>
            </a:r>
            <a:endParaRPr lang="en-US" altLang="ko-KR" sz="900" b="1" dirty="0">
              <a:solidFill>
                <a:prstClr val="black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031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01F5A63-FEDB-479C-9199-0895A889F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842392"/>
              </p:ext>
            </p:extLst>
          </p:nvPr>
        </p:nvGraphicFramePr>
        <p:xfrm>
          <a:off x="297824" y="2702012"/>
          <a:ext cx="8589519" cy="39765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9255">
                  <a:extLst>
                    <a:ext uri="{9D8B030D-6E8A-4147-A177-3AD203B41FA5}">
                      <a16:colId xmlns:a16="http://schemas.microsoft.com/office/drawing/2014/main" val="1442229186"/>
                    </a:ext>
                  </a:extLst>
                </a:gridCol>
                <a:gridCol w="3420997">
                  <a:extLst>
                    <a:ext uri="{9D8B030D-6E8A-4147-A177-3AD203B41FA5}">
                      <a16:colId xmlns:a16="http://schemas.microsoft.com/office/drawing/2014/main" val="314365198"/>
                    </a:ext>
                  </a:extLst>
                </a:gridCol>
                <a:gridCol w="3689267">
                  <a:extLst>
                    <a:ext uri="{9D8B030D-6E8A-4147-A177-3AD203B41FA5}">
                      <a16:colId xmlns:a16="http://schemas.microsoft.com/office/drawing/2014/main" val="1357115337"/>
                    </a:ext>
                  </a:extLst>
                </a:gridCol>
              </a:tblGrid>
              <a:tr h="2484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공정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성능가동률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시간가동률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44740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75.2%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99.9%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55954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35.5%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55652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89.2%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99.7%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1698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83.7%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95.4%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511723"/>
                  </a:ext>
                </a:extLst>
              </a:tr>
              <a:tr h="2659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67.4%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97.0%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88773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70.3%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98.3%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167740"/>
                  </a:ext>
                </a:extLst>
              </a:tr>
              <a:tr h="258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69.9%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94.6%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405210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58.7%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86.1%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42725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82.2%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99.7%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47014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71.3%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322310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63.3%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88.6%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60.8%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82.9%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42.8%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65.5%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86.7%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293819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1C6357B8-09B2-441B-AC59-F5A01BE76428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설비 가동률</a:t>
            </a:r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_</a:t>
            </a:r>
            <a:r>
              <a:rPr lang="en-US" altLang="ko-KR" sz="2400" b="1" dirty="0">
                <a:solidFill>
                  <a:srgbClr val="70AD47">
                    <a:lumMod val="75000"/>
                  </a:srgb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SEAL</a:t>
            </a:r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endParaRPr lang="ko-KR" altLang="en-US" sz="2400" b="1" dirty="0">
              <a:solidFill>
                <a:prstClr val="black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CA93F-0E7B-4CFA-84AA-9768017AEB80}"/>
              </a:ext>
            </a:extLst>
          </p:cNvPr>
          <p:cNvSpPr txBox="1"/>
          <p:nvPr/>
        </p:nvSpPr>
        <p:spPr>
          <a:xfrm>
            <a:off x="6186549" y="2256070"/>
            <a:ext cx="305905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성능가동률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야 </a:t>
            </a:r>
            <a:r>
              <a:rPr lang="en-US" altLang="ko-KR" sz="1300" b="1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240SHOT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기준</a:t>
            </a:r>
            <a:endParaRPr lang="en-US" altLang="ko-KR" sz="1300" b="1" dirty="0">
              <a:solidFill>
                <a:prstClr val="black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7656" y="2201274"/>
            <a:ext cx="2276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2000" dirty="0" err="1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설비별</a:t>
            </a:r>
            <a:r>
              <a:rPr lang="ko-KR" altLang="en-US" sz="2000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참고 자료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98068" y="2617510"/>
            <a:ext cx="8751550" cy="41619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32791"/>
              </p:ext>
            </p:extLst>
          </p:nvPr>
        </p:nvGraphicFramePr>
        <p:xfrm>
          <a:off x="167752" y="845866"/>
          <a:ext cx="8751550" cy="1325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1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11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관리지표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설비종합효율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성능가동률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시간가동률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양품율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(%)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MTTR</a:t>
                      </a:r>
                    </a:p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설비복구시간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(min)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MTBF</a:t>
                      </a:r>
                    </a:p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고장간격시간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en-US" altLang="ko-KR" sz="1100" b="1" baseline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48.9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60.6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80.9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99.8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48.4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430.9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9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65.5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86.7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99.9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51.2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336.9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5967"/>
                  </a:ext>
                </a:extLst>
              </a:tr>
              <a:tr h="292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변동 내역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+7.8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+4.9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+5.8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1200" baseline="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+0.1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rgbClr val="092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+2.8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solidFill>
                            <a:srgbClr val="092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-94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160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01F5A63-FEDB-479C-9199-0895A889F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730726"/>
              </p:ext>
            </p:extLst>
          </p:nvPr>
        </p:nvGraphicFramePr>
        <p:xfrm>
          <a:off x="297824" y="1578589"/>
          <a:ext cx="8589519" cy="42349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9255">
                  <a:extLst>
                    <a:ext uri="{9D8B030D-6E8A-4147-A177-3AD203B41FA5}">
                      <a16:colId xmlns:a16="http://schemas.microsoft.com/office/drawing/2014/main" val="1442229186"/>
                    </a:ext>
                  </a:extLst>
                </a:gridCol>
                <a:gridCol w="3407317">
                  <a:extLst>
                    <a:ext uri="{9D8B030D-6E8A-4147-A177-3AD203B41FA5}">
                      <a16:colId xmlns:a16="http://schemas.microsoft.com/office/drawing/2014/main" val="314365198"/>
                    </a:ext>
                  </a:extLst>
                </a:gridCol>
                <a:gridCol w="3702947">
                  <a:extLst>
                    <a:ext uri="{9D8B030D-6E8A-4147-A177-3AD203B41FA5}">
                      <a16:colId xmlns:a16="http://schemas.microsoft.com/office/drawing/2014/main" val="1357115337"/>
                    </a:ext>
                  </a:extLst>
                </a:gridCol>
              </a:tblGrid>
              <a:tr h="2646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공정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MTTR [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설비복구시간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 (min)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MTBF [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고장간격거리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] (</a:t>
                      </a:r>
                      <a:r>
                        <a:rPr lang="en-US" altLang="ko-KR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hr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644740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265.3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55954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55652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1698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266.4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511723"/>
                  </a:ext>
                </a:extLst>
              </a:tr>
              <a:tr h="283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175.8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88773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167740"/>
                  </a:ext>
                </a:extLst>
              </a:tr>
              <a:tr h="2748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405210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42725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47014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322310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533.2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177.4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PS-13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532.9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35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336.9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293819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1C6357B8-09B2-441B-AC59-F5A01BE76428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1. </a:t>
            </a:r>
            <a:r>
              <a:rPr lang="ko-KR" altLang="en-US" sz="2400" b="1" dirty="0" err="1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설비별</a:t>
            </a:r>
            <a:r>
              <a:rPr lang="ko-KR" altLang="en-US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MTTR,MTBF_</a:t>
            </a:r>
            <a:r>
              <a:rPr lang="en-US" altLang="ko-KR" sz="2400" b="1" dirty="0">
                <a:solidFill>
                  <a:srgbClr val="70AD47">
                    <a:lumMod val="75000"/>
                  </a:srgb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SEAL</a:t>
            </a:r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endParaRPr lang="ko-KR" altLang="en-US" sz="2400" b="1" dirty="0">
              <a:solidFill>
                <a:prstClr val="black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96225" y="1485888"/>
            <a:ext cx="8751550" cy="44858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DC05D-6709-4A00-BB21-32516CC575F6}"/>
              </a:ext>
            </a:extLst>
          </p:cNvPr>
          <p:cNvSpPr txBox="1"/>
          <p:nvPr/>
        </p:nvSpPr>
        <p:spPr>
          <a:xfrm>
            <a:off x="114299" y="886254"/>
            <a:ext cx="2704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※</a:t>
            </a:r>
            <a:r>
              <a:rPr lang="ko-KR" altLang="en-US" sz="2000" dirty="0" err="1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설비별</a:t>
            </a:r>
            <a:r>
              <a:rPr lang="ko-KR" altLang="en-US" sz="2000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참고 자료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F58CA-7FB2-4E01-890B-36EB418B9277}"/>
              </a:ext>
            </a:extLst>
          </p:cNvPr>
          <p:cNvSpPr txBox="1"/>
          <p:nvPr/>
        </p:nvSpPr>
        <p:spPr>
          <a:xfrm>
            <a:off x="177800" y="6094522"/>
            <a:ext cx="875154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관리기준</a:t>
            </a:r>
            <a:endParaRPr lang="en-US" altLang="ko-KR" sz="1300" b="1" dirty="0">
              <a:solidFill>
                <a:prstClr val="black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-MTTR : </a:t>
            </a:r>
            <a:r>
              <a:rPr lang="ko-KR" altLang="en-US" sz="1300" b="1" dirty="0" err="1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설비별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300" b="1" dirty="0">
                <a:solidFill>
                  <a:srgbClr val="FF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1,440min </a:t>
            </a:r>
            <a:r>
              <a:rPr lang="ko-KR" altLang="en-US" sz="1300" b="1" dirty="0">
                <a:solidFill>
                  <a:srgbClr val="FF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초과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발생시 설비점검 진행 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[1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日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=24hr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기준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]</a:t>
            </a:r>
          </a:p>
          <a:p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-MTBF : </a:t>
            </a:r>
            <a:r>
              <a:rPr lang="ko-KR" altLang="en-US" sz="1300" b="1" dirty="0" err="1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설비별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300" b="1" dirty="0">
                <a:solidFill>
                  <a:srgbClr val="FF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48hr </a:t>
            </a:r>
            <a:r>
              <a:rPr lang="ko-KR" altLang="en-US" sz="1300" b="1" dirty="0">
                <a:solidFill>
                  <a:srgbClr val="FF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미만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발생시 설비점검 진행 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[2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日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=48hr </a:t>
            </a:r>
            <a:r>
              <a:rPr lang="ko-KR" altLang="en-US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기준</a:t>
            </a:r>
            <a:r>
              <a:rPr lang="en-US" altLang="ko-KR" sz="13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]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94221-480E-4DAB-96B3-ADB7434BEE7D}"/>
              </a:ext>
            </a:extLst>
          </p:cNvPr>
          <p:cNvSpPr txBox="1"/>
          <p:nvPr/>
        </p:nvSpPr>
        <p:spPr>
          <a:xfrm>
            <a:off x="5908815" y="727339"/>
            <a:ext cx="19181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SEAL </a:t>
            </a:r>
            <a:r>
              <a:rPr lang="ko-KR" altLang="en-US" sz="900" b="1" dirty="0"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전체 설비 평균값</a:t>
            </a:r>
            <a:endParaRPr lang="en-US" altLang="ko-KR" sz="900" b="1" dirty="0">
              <a:solidFill>
                <a:prstClr val="black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A251F0F-BCB7-46D0-94B0-CA36DC9ED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631446"/>
              </p:ext>
            </p:extLst>
          </p:nvPr>
        </p:nvGraphicFramePr>
        <p:xfrm>
          <a:off x="5998127" y="925220"/>
          <a:ext cx="2949648" cy="48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571">
                  <a:extLst>
                    <a:ext uri="{9D8B030D-6E8A-4147-A177-3AD203B41FA5}">
                      <a16:colId xmlns:a16="http://schemas.microsoft.com/office/drawing/2014/main" val="2175056962"/>
                    </a:ext>
                  </a:extLst>
                </a:gridCol>
                <a:gridCol w="1127035">
                  <a:extLst>
                    <a:ext uri="{9D8B030D-6E8A-4147-A177-3AD203B41FA5}">
                      <a16:colId xmlns:a16="http://schemas.microsoft.com/office/drawing/2014/main" val="376182177"/>
                    </a:ext>
                  </a:extLst>
                </a:gridCol>
                <a:gridCol w="1126042">
                  <a:extLst>
                    <a:ext uri="{9D8B030D-6E8A-4147-A177-3AD203B41FA5}">
                      <a16:colId xmlns:a16="http://schemas.microsoft.com/office/drawing/2014/main" val="3596259317"/>
                    </a:ext>
                  </a:extLst>
                </a:gridCol>
              </a:tblGrid>
              <a:tr h="243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月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MTTR</a:t>
                      </a:r>
                    </a:p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설비복구시간</a:t>
                      </a: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(min)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MTBF</a:t>
                      </a:r>
                    </a:p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고장간격시간</a:t>
                      </a: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en-US" altLang="ko-KR" sz="700" b="1" baseline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Hr</a:t>
                      </a:r>
                      <a:r>
                        <a:rPr lang="en-US" altLang="ko-KR" sz="7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8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7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endParaRPr lang="en-US" altLang="ko-KR" sz="7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700" b="1" kern="1200" baseline="0" dirty="0">
                          <a:solidFill>
                            <a:schemeClr val="dk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51.2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336.9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11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49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00BB3445-9A8C-40C8-8A29-C5D8610E3B6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285" y="799558"/>
            <a:ext cx="8882224" cy="26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defRPr/>
            </a:pPr>
            <a:r>
              <a:rPr lang="en-US" altLang="ko-KR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월별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비가동</a:t>
            </a:r>
            <a:r>
              <a:rPr lang="ko-KR" altLang="en-US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변동현황</a:t>
            </a:r>
            <a:endParaRPr lang="en-US" altLang="ko-KR" sz="1600" b="1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1A01D-D2FC-40D8-AF15-813BA2011D60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2. </a:t>
            </a:r>
            <a:r>
              <a:rPr lang="ko-KR" altLang="en-US" sz="2400" b="1" dirty="0" err="1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비가동</a:t>
            </a:r>
            <a:r>
              <a:rPr lang="en-US" altLang="ko-KR" sz="2400" b="1" dirty="0">
                <a:solidFill>
                  <a:prstClr val="black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_</a:t>
            </a:r>
            <a:r>
              <a:rPr lang="en-US" altLang="ko-KR" sz="2400" b="1" dirty="0">
                <a:solidFill>
                  <a:srgbClr val="4472C4">
                    <a:lumMod val="75000"/>
                  </a:srgb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GROMMET</a:t>
            </a:r>
            <a:endParaRPr lang="ko-KR" altLang="en-US" sz="2400" b="1" dirty="0">
              <a:solidFill>
                <a:srgbClr val="4472C4">
                  <a:lumMod val="75000"/>
                </a:srgbClr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9F755763-D431-44E6-B9BE-8417F85119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2183849"/>
              </p:ext>
            </p:extLst>
          </p:nvPr>
        </p:nvGraphicFramePr>
        <p:xfrm>
          <a:off x="-69396" y="1140000"/>
          <a:ext cx="8775104" cy="5285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4173033" y="3558819"/>
            <a:ext cx="673302" cy="24943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</a:t>
            </a:r>
            <a:endParaRPr lang="ko-KR" altLang="en-US" sz="1400" b="1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 rot="10800000">
            <a:off x="4514574" y="3534536"/>
            <a:ext cx="371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10800000" flipV="1">
            <a:off x="10386821" y="4425103"/>
            <a:ext cx="385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584990-B9A5-46CB-AF49-88A5D3988872}"/>
              </a:ext>
            </a:extLst>
          </p:cNvPr>
          <p:cNvSpPr/>
          <p:nvPr/>
        </p:nvSpPr>
        <p:spPr>
          <a:xfrm>
            <a:off x="9549348" y="1521637"/>
            <a:ext cx="2831420" cy="16856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tx1"/>
                </a:solidFill>
              </a:rPr>
              <a:t>▶외국인 근로자 집중단속 기간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43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4DC143-E4E4-4FF3-9A4A-A17B3621A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937857"/>
              </p:ext>
            </p:extLst>
          </p:nvPr>
        </p:nvGraphicFramePr>
        <p:xfrm>
          <a:off x="159172" y="1567346"/>
          <a:ext cx="8775104" cy="5171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547">
                  <a:extLst>
                    <a:ext uri="{9D8B030D-6E8A-4147-A177-3AD203B41FA5}">
                      <a16:colId xmlns:a16="http://schemas.microsoft.com/office/drawing/2014/main" val="3253153077"/>
                    </a:ext>
                  </a:extLst>
                </a:gridCol>
                <a:gridCol w="1068661">
                  <a:extLst>
                    <a:ext uri="{9D8B030D-6E8A-4147-A177-3AD203B41FA5}">
                      <a16:colId xmlns:a16="http://schemas.microsoft.com/office/drawing/2014/main" val="364635020"/>
                    </a:ext>
                  </a:extLst>
                </a:gridCol>
                <a:gridCol w="1202244">
                  <a:extLst>
                    <a:ext uri="{9D8B030D-6E8A-4147-A177-3AD203B41FA5}">
                      <a16:colId xmlns:a16="http://schemas.microsoft.com/office/drawing/2014/main" val="1095971753"/>
                    </a:ext>
                  </a:extLst>
                </a:gridCol>
                <a:gridCol w="935078">
                  <a:extLst>
                    <a:ext uri="{9D8B030D-6E8A-4147-A177-3AD203B41FA5}">
                      <a16:colId xmlns:a16="http://schemas.microsoft.com/office/drawing/2014/main" val="3286233525"/>
                    </a:ext>
                  </a:extLst>
                </a:gridCol>
                <a:gridCol w="5075574">
                  <a:extLst>
                    <a:ext uri="{9D8B030D-6E8A-4147-A177-3AD203B41FA5}">
                      <a16:colId xmlns:a16="http://schemas.microsoft.com/office/drawing/2014/main" val="15953943"/>
                    </a:ext>
                  </a:extLst>
                </a:gridCol>
              </a:tblGrid>
              <a:tr h="368852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비가동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발생 현황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067188"/>
                  </a:ext>
                </a:extLst>
              </a:tr>
              <a:tr h="447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순위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비가동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요인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비가동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시간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(min)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비가동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횟수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月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 rowSpan="16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89878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금형교체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14,594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122719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금형세척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1,694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925769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3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설비이상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10,274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812826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고무이상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3,060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310383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근태변경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25,920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046706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제품이상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1,643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912164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설비청소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46859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작업휴식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2367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현장교육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204528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공정감사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dk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비가동</a:t>
                      </a:r>
                      <a:r>
                        <a:rPr lang="ko-KR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요인 축소</a:t>
                      </a:r>
                      <a:endParaRPr lang="en-US" altLang="ko-KR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3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4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57,685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7" name="Rectangle 11">
            <a:extLst>
              <a:ext uri="{FF2B5EF4-FFF2-40B4-BE49-F238E27FC236}">
                <a16:creationId xmlns:a16="http://schemas.microsoft.com/office/drawing/2014/main" id="{888160DB-5C05-40D2-A049-2055B22AC07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0050" y="1110419"/>
            <a:ext cx="8534226" cy="450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‘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근태변경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’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25,920min 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으로 가장 </a:t>
            </a:r>
            <a:r>
              <a:rPr lang="ko-KR" altLang="en-US" sz="1200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많은 시간 차지</a:t>
            </a:r>
          </a:p>
          <a:p>
            <a:pPr defTabSz="844083">
              <a:buFont typeface="Wingdings" pitchFamily="2" charset="2"/>
              <a:buChar char="Ø"/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‘</a:t>
            </a:r>
            <a:r>
              <a:rPr lang="ko-KR" altLang="en-US" sz="1200" b="1" kern="0" dirty="0" err="1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금형교체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’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124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회</a:t>
            </a:r>
            <a:r>
              <a:rPr lang="ko-KR" altLang="en-US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로 가장 </a:t>
            </a:r>
            <a:r>
              <a:rPr lang="ko-KR" altLang="en-US" sz="1200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많은 횟수 차지</a:t>
            </a:r>
            <a:endParaRPr lang="en-US" altLang="ko-KR" sz="1200" b="1" kern="0" dirty="0">
              <a:solidFill>
                <a:schemeClr val="accent6">
                  <a:lumMod val="7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0BB3445-9A8C-40C8-8A29-C5D8610E3B6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285" y="799558"/>
            <a:ext cx="8882224" cy="26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defRPr/>
            </a:pPr>
            <a:r>
              <a:rPr lang="en-US" altLang="ko-KR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비가동</a:t>
            </a:r>
            <a:r>
              <a:rPr lang="ko-KR" altLang="en-US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요인별</a:t>
            </a:r>
            <a:r>
              <a:rPr lang="ko-KR" altLang="en-US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현황</a:t>
            </a:r>
            <a:endParaRPr lang="en-US" altLang="ko-KR" sz="1600" b="1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1A01D-D2FC-40D8-AF15-813BA2011D60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2. </a:t>
            </a:r>
            <a:r>
              <a:rPr lang="ko-KR" altLang="en-US" sz="2400" b="1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비가동</a:t>
            </a:r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_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GROMMET</a:t>
            </a:r>
            <a:endParaRPr lang="ko-KR" altLang="en-US" sz="2400" b="1" dirty="0">
              <a:solidFill>
                <a:schemeClr val="accent1">
                  <a:lumMod val="75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705542" y="3544118"/>
            <a:ext cx="1219199" cy="29584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2916195" y="2369944"/>
            <a:ext cx="943196" cy="2890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8" b="1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66C1C1C2-552D-40FF-B92B-CB4660E2A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7300533"/>
              </p:ext>
            </p:extLst>
          </p:nvPr>
        </p:nvGraphicFramePr>
        <p:xfrm>
          <a:off x="4069115" y="2111646"/>
          <a:ext cx="5074885" cy="4643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738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00BB3445-9A8C-40C8-8A29-C5D8610E3B6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285" y="799558"/>
            <a:ext cx="8882224" cy="26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defRPr/>
            </a:pPr>
            <a:r>
              <a:rPr lang="en-US" altLang="ko-KR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월별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비가동</a:t>
            </a:r>
            <a:r>
              <a:rPr lang="ko-KR" altLang="en-US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변동현황</a:t>
            </a:r>
            <a:endParaRPr lang="en-US" altLang="ko-KR" sz="1600" b="1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1A01D-D2FC-40D8-AF15-813BA2011D60}"/>
              </a:ext>
            </a:extLst>
          </p:cNvPr>
          <p:cNvSpPr txBox="1"/>
          <p:nvPr/>
        </p:nvSpPr>
        <p:spPr>
          <a:xfrm>
            <a:off x="114300" y="177578"/>
            <a:ext cx="4559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2. </a:t>
            </a:r>
            <a:r>
              <a:rPr lang="ko-KR" altLang="en-US" sz="2400" b="1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비가동</a:t>
            </a:r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_</a:t>
            </a:r>
            <a:r>
              <a:rPr lang="en-US" altLang="ko-KR" sz="2400" b="1" dirty="0">
                <a:solidFill>
                  <a:srgbClr val="0066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SEAL</a:t>
            </a:r>
            <a:endParaRPr lang="ko-KR" altLang="en-US" sz="2400" b="1" dirty="0">
              <a:solidFill>
                <a:srgbClr val="00660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  <a:p>
            <a:endParaRPr lang="ko-KR" altLang="en-US" sz="2400" b="1" dirty="0">
              <a:solidFill>
                <a:schemeClr val="accent1">
                  <a:lumMod val="75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9F755763-D431-44E6-B9BE-8417F85119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618077"/>
              </p:ext>
            </p:extLst>
          </p:nvPr>
        </p:nvGraphicFramePr>
        <p:xfrm>
          <a:off x="-69396" y="1139999"/>
          <a:ext cx="8775104" cy="5385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4393288" y="3535902"/>
            <a:ext cx="701057" cy="28063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rot="10800000" flipV="1">
            <a:off x="4804170" y="3556159"/>
            <a:ext cx="367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▼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0D6A1D-DDB1-4022-B552-952930807BD5}"/>
              </a:ext>
            </a:extLst>
          </p:cNvPr>
          <p:cNvSpPr/>
          <p:nvPr/>
        </p:nvSpPr>
        <p:spPr>
          <a:xfrm>
            <a:off x="9606793" y="1654646"/>
            <a:ext cx="2610934" cy="46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tx1"/>
                </a:solidFill>
              </a:rPr>
              <a:t>▶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553D48-E951-48C6-8A4D-417003BE485E}"/>
              </a:ext>
            </a:extLst>
          </p:cNvPr>
          <p:cNvSpPr txBox="1"/>
          <p:nvPr/>
        </p:nvSpPr>
        <p:spPr>
          <a:xfrm rot="10800000" flipV="1">
            <a:off x="10765454" y="3739179"/>
            <a:ext cx="385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82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4DC143-E4E4-4FF3-9A4A-A17B3621A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367808"/>
              </p:ext>
            </p:extLst>
          </p:nvPr>
        </p:nvGraphicFramePr>
        <p:xfrm>
          <a:off x="159172" y="1585481"/>
          <a:ext cx="8775104" cy="514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547">
                  <a:extLst>
                    <a:ext uri="{9D8B030D-6E8A-4147-A177-3AD203B41FA5}">
                      <a16:colId xmlns:a16="http://schemas.microsoft.com/office/drawing/2014/main" val="3253153077"/>
                    </a:ext>
                  </a:extLst>
                </a:gridCol>
                <a:gridCol w="1068661">
                  <a:extLst>
                    <a:ext uri="{9D8B030D-6E8A-4147-A177-3AD203B41FA5}">
                      <a16:colId xmlns:a16="http://schemas.microsoft.com/office/drawing/2014/main" val="364635020"/>
                    </a:ext>
                  </a:extLst>
                </a:gridCol>
                <a:gridCol w="1202244">
                  <a:extLst>
                    <a:ext uri="{9D8B030D-6E8A-4147-A177-3AD203B41FA5}">
                      <a16:colId xmlns:a16="http://schemas.microsoft.com/office/drawing/2014/main" val="1095971753"/>
                    </a:ext>
                  </a:extLst>
                </a:gridCol>
                <a:gridCol w="935078">
                  <a:extLst>
                    <a:ext uri="{9D8B030D-6E8A-4147-A177-3AD203B41FA5}">
                      <a16:colId xmlns:a16="http://schemas.microsoft.com/office/drawing/2014/main" val="3286233525"/>
                    </a:ext>
                  </a:extLst>
                </a:gridCol>
                <a:gridCol w="5075574">
                  <a:extLst>
                    <a:ext uri="{9D8B030D-6E8A-4147-A177-3AD203B41FA5}">
                      <a16:colId xmlns:a16="http://schemas.microsoft.com/office/drawing/2014/main" val="15953943"/>
                    </a:ext>
                  </a:extLst>
                </a:gridCol>
              </a:tblGrid>
              <a:tr h="368852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비가동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발생 현황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067188"/>
                  </a:ext>
                </a:extLst>
              </a:tr>
              <a:tr h="447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순위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비가동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요인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비가동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시간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(min)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비가동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횟수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月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rowSpan="16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89878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금형교체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2,922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122719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금형세척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925769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설비이상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975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812826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고무이상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1,205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310383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근태변경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4,860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046706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제품이상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1,155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912164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설비청소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46859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작업휴식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2367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현장교육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204528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공정감사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dk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비가동</a:t>
                      </a:r>
                      <a:r>
                        <a:rPr lang="ko-KR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요인 축소</a:t>
                      </a:r>
                      <a:endParaRPr lang="en-US" altLang="ko-KR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3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377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D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11,282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7" name="Rectangle 11">
            <a:extLst>
              <a:ext uri="{FF2B5EF4-FFF2-40B4-BE49-F238E27FC236}">
                <a16:creationId xmlns:a16="http://schemas.microsoft.com/office/drawing/2014/main" id="{888160DB-5C05-40D2-A049-2055B22AC07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0050" y="1110419"/>
            <a:ext cx="8534226" cy="450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‘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근태변경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’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4,860min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으로 가장 </a:t>
            </a:r>
            <a:r>
              <a:rPr lang="ko-KR" altLang="en-US" sz="1200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많은 시간 차지</a:t>
            </a:r>
          </a:p>
          <a:p>
            <a:pPr defTabSz="844083">
              <a:buFont typeface="Wingdings" pitchFamily="2" charset="2"/>
              <a:buChar char="Ø"/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’</a:t>
            </a:r>
            <a:r>
              <a:rPr lang="ko-KR" altLang="en-US" sz="1200" b="1" kern="0" dirty="0" err="1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금형교체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’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48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회</a:t>
            </a:r>
            <a:r>
              <a:rPr lang="ko-KR" altLang="en-US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로 가장 </a:t>
            </a:r>
            <a:r>
              <a:rPr lang="ko-KR" altLang="en-US" sz="1200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많은 횟수 차지</a:t>
            </a:r>
            <a:endParaRPr lang="en-US" altLang="ko-KR" sz="1200" b="1" kern="0" dirty="0">
              <a:solidFill>
                <a:schemeClr val="accent6">
                  <a:lumMod val="7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0BB3445-9A8C-40C8-8A29-C5D8610E3B6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285" y="799558"/>
            <a:ext cx="8882224" cy="26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defRPr/>
            </a:pPr>
            <a:r>
              <a:rPr lang="en-US" altLang="ko-KR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비가동</a:t>
            </a:r>
            <a:r>
              <a:rPr lang="ko-KR" altLang="en-US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요인별</a:t>
            </a:r>
            <a:r>
              <a:rPr lang="ko-KR" altLang="en-US" sz="16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현황</a:t>
            </a:r>
            <a:endParaRPr lang="en-US" altLang="ko-KR" sz="1600" b="1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1A01D-D2FC-40D8-AF15-813BA2011D60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2. </a:t>
            </a:r>
            <a:r>
              <a:rPr lang="ko-KR" altLang="en-US" sz="2400" b="1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비가동</a:t>
            </a:r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_</a:t>
            </a:r>
            <a:r>
              <a:rPr lang="en-US" altLang="ko-KR" sz="2400" b="1" dirty="0">
                <a:solidFill>
                  <a:srgbClr val="0066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SEAL</a:t>
            </a:r>
            <a:endParaRPr lang="ko-KR" altLang="en-US" sz="2400" b="1" dirty="0">
              <a:solidFill>
                <a:srgbClr val="00660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2916195" y="2403576"/>
            <a:ext cx="943196" cy="28322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709351" y="3579233"/>
            <a:ext cx="1206844" cy="28322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66C1C1C2-552D-40FF-B92B-CB4660E2A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9487837"/>
              </p:ext>
            </p:extLst>
          </p:nvPr>
        </p:nvGraphicFramePr>
        <p:xfrm>
          <a:off x="4069115" y="2116434"/>
          <a:ext cx="5074885" cy="4643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4525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D7017D-BED2-428F-B167-93E8BF46F19D}"/>
              </a:ext>
            </a:extLst>
          </p:cNvPr>
          <p:cNvSpPr txBox="1"/>
          <p:nvPr/>
        </p:nvSpPr>
        <p:spPr>
          <a:xfrm>
            <a:off x="143312" y="758710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59A9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GROMMET</a:t>
            </a:r>
            <a:endParaRPr lang="ko-KR" altLang="en-US" b="1" dirty="0">
              <a:solidFill>
                <a:srgbClr val="0059A9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8ECA927-B29C-4597-AFA5-4F7B3AD11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640634"/>
              </p:ext>
            </p:extLst>
          </p:nvPr>
        </p:nvGraphicFramePr>
        <p:xfrm>
          <a:off x="143311" y="1167772"/>
          <a:ext cx="8822607" cy="1408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609">
                  <a:extLst>
                    <a:ext uri="{9D8B030D-6E8A-4147-A177-3AD203B41FA5}">
                      <a16:colId xmlns:a16="http://schemas.microsoft.com/office/drawing/2014/main" val="800154293"/>
                    </a:ext>
                  </a:extLst>
                </a:gridCol>
                <a:gridCol w="119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0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7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5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DATA</a:t>
                      </a:r>
                      <a:r>
                        <a:rPr lang="en-US" altLang="ko-KR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수집일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품목수량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생산금액</a:t>
                      </a:r>
                      <a:r>
                        <a:rPr lang="en-US" altLang="ko-KR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원</a:t>
                      </a:r>
                      <a:r>
                        <a:rPr lang="en-US" altLang="ko-KR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생산수량</a:t>
                      </a:r>
                      <a:r>
                        <a:rPr lang="en-US" altLang="ko-KR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 평균  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SHOT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2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189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1,432,137,168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15,668,522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165.5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06158"/>
                  </a:ext>
                </a:extLst>
              </a:tr>
              <a:tr h="37756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168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1,448,421,710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9,428,345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171.1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2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000" b="1" kern="1200" baseline="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변동내역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920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-21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+16,284,542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920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-6,240,177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+5.6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934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F0EB8FE-7FD2-4DC4-B815-A2DA5038ECB3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91910-C0CE-4388-850D-44EEE8B83D33}"/>
              </a:ext>
            </a:extLst>
          </p:cNvPr>
          <p:cNvSpPr txBox="1"/>
          <p:nvPr/>
        </p:nvSpPr>
        <p:spPr>
          <a:xfrm>
            <a:off x="2378711" y="2698221"/>
            <a:ext cx="4559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5</a:t>
            </a:r>
            <a:r>
              <a:rPr lang="ko-KR" altLang="en-US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생산현황 </a:t>
            </a:r>
            <a:r>
              <a:rPr lang="en-US" altLang="ko-KR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일별</a:t>
            </a:r>
            <a:r>
              <a:rPr lang="en-US" altLang="ko-KR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16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312" y="2703713"/>
            <a:ext cx="8833610" cy="392984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2C9938A1-0BA5-4A07-B8F1-E96E49757E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9657869"/>
              </p:ext>
            </p:extLst>
          </p:nvPr>
        </p:nvGraphicFramePr>
        <p:xfrm>
          <a:off x="150482" y="2867498"/>
          <a:ext cx="8815436" cy="3871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3094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D7017D-BED2-428F-B167-93E8BF46F19D}"/>
              </a:ext>
            </a:extLst>
          </p:cNvPr>
          <p:cNvSpPr txBox="1"/>
          <p:nvPr/>
        </p:nvSpPr>
        <p:spPr>
          <a:xfrm>
            <a:off x="143312" y="758710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66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SEAL</a:t>
            </a:r>
            <a:endParaRPr lang="ko-KR" altLang="en-US" b="1" dirty="0">
              <a:solidFill>
                <a:srgbClr val="0066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468" name="차트 467">
            <a:extLst>
              <a:ext uri="{FF2B5EF4-FFF2-40B4-BE49-F238E27FC236}">
                <a16:creationId xmlns:a16="http://schemas.microsoft.com/office/drawing/2014/main" id="{2C9938A1-0BA5-4A07-B8F1-E96E49757E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2298830"/>
              </p:ext>
            </p:extLst>
          </p:nvPr>
        </p:nvGraphicFramePr>
        <p:xfrm>
          <a:off x="114300" y="2853368"/>
          <a:ext cx="8815436" cy="37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F0EB8FE-7FD2-4DC4-B815-A2DA5038ECB3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91910-C0CE-4388-850D-44EEE8B83D33}"/>
              </a:ext>
            </a:extLst>
          </p:cNvPr>
          <p:cNvSpPr txBox="1"/>
          <p:nvPr/>
        </p:nvSpPr>
        <p:spPr>
          <a:xfrm>
            <a:off x="2393950" y="2652925"/>
            <a:ext cx="4559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5</a:t>
            </a:r>
            <a:r>
              <a:rPr lang="ko-KR" altLang="en-US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생산현황 </a:t>
            </a:r>
            <a:r>
              <a:rPr lang="en-US" altLang="ko-KR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일별</a:t>
            </a:r>
            <a:r>
              <a:rPr lang="en-US" altLang="ko-KR" sz="16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16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312" y="2652925"/>
            <a:ext cx="8833610" cy="397231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8ECA927-B29C-4597-AFA5-4F7B3AD11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744677"/>
              </p:ext>
            </p:extLst>
          </p:nvPr>
        </p:nvGraphicFramePr>
        <p:xfrm>
          <a:off x="143312" y="1128042"/>
          <a:ext cx="8844613" cy="1390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043">
                  <a:extLst>
                    <a:ext uri="{9D8B030D-6E8A-4147-A177-3AD203B41FA5}">
                      <a16:colId xmlns:a16="http://schemas.microsoft.com/office/drawing/2014/main" val="800154293"/>
                    </a:ext>
                  </a:extLst>
                </a:gridCol>
                <a:gridCol w="1193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3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5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26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5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DATA</a:t>
                      </a:r>
                      <a:r>
                        <a:rPr lang="en-US" altLang="ko-KR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수집일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품목수량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생산금액</a:t>
                      </a:r>
                      <a:r>
                        <a:rPr lang="en-US" altLang="ko-KR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원</a:t>
                      </a:r>
                      <a:r>
                        <a:rPr lang="en-US" altLang="ko-KR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생산수량</a:t>
                      </a:r>
                      <a:r>
                        <a:rPr lang="en-US" altLang="ko-KR" sz="105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 평균  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SHOT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748,572,696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50,820,438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184.0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06158"/>
                  </a:ext>
                </a:extLst>
              </a:tr>
              <a:tr h="3707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월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48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756,530,562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55,749,215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187.2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변동내역</a:t>
                      </a:r>
                      <a:endParaRPr lang="en-US" altLang="ko-KR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920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+7,957,866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+4,928,777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920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-3.2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93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595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1B13C5E5-BBF6-41C2-A81A-9680C0A56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945535"/>
              </p:ext>
            </p:extLst>
          </p:nvPr>
        </p:nvGraphicFramePr>
        <p:xfrm>
          <a:off x="49773" y="1486760"/>
          <a:ext cx="9002787" cy="2450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7D7017D-BED2-428F-B167-93E8BF46F19D}"/>
              </a:ext>
            </a:extLst>
          </p:cNvPr>
          <p:cNvSpPr txBox="1"/>
          <p:nvPr/>
        </p:nvSpPr>
        <p:spPr>
          <a:xfrm>
            <a:off x="152400" y="804100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 변동 추이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생산금액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0EB8FE-7FD2-4DC4-B815-A2DA5038ECB3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1B13C5E5-BBF6-41C2-A81A-9680C0A56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7333426"/>
              </p:ext>
            </p:extLst>
          </p:nvPr>
        </p:nvGraphicFramePr>
        <p:xfrm>
          <a:off x="-167145" y="4267200"/>
          <a:ext cx="9002787" cy="2450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직사각형 2"/>
          <p:cNvSpPr/>
          <p:nvPr/>
        </p:nvSpPr>
        <p:spPr>
          <a:xfrm>
            <a:off x="152400" y="1458698"/>
            <a:ext cx="8900160" cy="2485366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57084" y="4267200"/>
            <a:ext cx="8900160" cy="250698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2400" y="1173432"/>
            <a:ext cx="8900160" cy="2852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GROMMET</a:t>
            </a:r>
            <a:endParaRPr lang="ko-KR" altLang="en-US" sz="1600" b="1" dirty="0"/>
          </a:p>
        </p:txBody>
      </p:sp>
      <p:sp>
        <p:nvSpPr>
          <p:cNvPr id="15" name="직사각형 14"/>
          <p:cNvSpPr/>
          <p:nvPr/>
        </p:nvSpPr>
        <p:spPr>
          <a:xfrm>
            <a:off x="152400" y="3984754"/>
            <a:ext cx="8900160" cy="2852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SEAL</a:t>
            </a:r>
            <a:endParaRPr lang="ko-KR" altLang="en-US" sz="1600" b="1" dirty="0"/>
          </a:p>
        </p:txBody>
      </p:sp>
      <p:sp>
        <p:nvSpPr>
          <p:cNvPr id="24" name="직사각형 23"/>
          <p:cNvSpPr/>
          <p:nvPr/>
        </p:nvSpPr>
        <p:spPr>
          <a:xfrm>
            <a:off x="114300" y="1473861"/>
            <a:ext cx="8900160" cy="250698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 flipV="1">
            <a:off x="9998767" y="4394631"/>
            <a:ext cx="308130" cy="3064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4597586" y="4821338"/>
            <a:ext cx="845675" cy="18682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flipV="1">
            <a:off x="9772593" y="3429000"/>
            <a:ext cx="390529" cy="3298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9772593" y="1584447"/>
            <a:ext cx="736651" cy="24170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91485" y="1765354"/>
            <a:ext cx="3397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4385659" y="1794782"/>
            <a:ext cx="894214" cy="24170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 rot="10800000">
            <a:off x="10093738" y="2002384"/>
            <a:ext cx="45969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14EA53-8D14-408B-A9F9-C1C4793EFAE1}"/>
              </a:ext>
            </a:extLst>
          </p:cNvPr>
          <p:cNvSpPr txBox="1"/>
          <p:nvPr/>
        </p:nvSpPr>
        <p:spPr>
          <a:xfrm>
            <a:off x="5127734" y="4773827"/>
            <a:ext cx="3397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817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1B13C5E5-BBF6-41C2-A81A-9680C0A56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41315"/>
              </p:ext>
            </p:extLst>
          </p:nvPr>
        </p:nvGraphicFramePr>
        <p:xfrm>
          <a:off x="-250717" y="1527048"/>
          <a:ext cx="9169930" cy="2292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7D7017D-BED2-428F-B167-93E8BF46F19D}"/>
              </a:ext>
            </a:extLst>
          </p:cNvPr>
          <p:cNvSpPr txBox="1"/>
          <p:nvPr/>
        </p:nvSpPr>
        <p:spPr>
          <a:xfrm>
            <a:off x="152400" y="804100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 변동 추이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0EB8FE-7FD2-4DC4-B815-A2DA5038ECB3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1B13C5E5-BBF6-41C2-A81A-9680C0A56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6491347"/>
              </p:ext>
            </p:extLst>
          </p:nvPr>
        </p:nvGraphicFramePr>
        <p:xfrm>
          <a:off x="-167145" y="4267200"/>
          <a:ext cx="9002787" cy="2450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직사각형 2"/>
          <p:cNvSpPr/>
          <p:nvPr/>
        </p:nvSpPr>
        <p:spPr>
          <a:xfrm>
            <a:off x="152400" y="1458698"/>
            <a:ext cx="8900160" cy="2485366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57084" y="4267200"/>
            <a:ext cx="8900160" cy="250698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2400" y="1173432"/>
            <a:ext cx="8900160" cy="2852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GROMMET</a:t>
            </a:r>
            <a:endParaRPr lang="ko-KR" altLang="en-US" sz="1600" b="1" dirty="0"/>
          </a:p>
        </p:txBody>
      </p:sp>
      <p:sp>
        <p:nvSpPr>
          <p:cNvPr id="15" name="직사각형 14"/>
          <p:cNvSpPr/>
          <p:nvPr/>
        </p:nvSpPr>
        <p:spPr>
          <a:xfrm>
            <a:off x="152400" y="3984754"/>
            <a:ext cx="8900160" cy="2852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SEAL</a:t>
            </a:r>
            <a:endParaRPr lang="ko-KR" alt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5821" y="2676948"/>
            <a:ext cx="3397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0291261" y="3274887"/>
            <a:ext cx="666920" cy="19983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4369149" y="2272329"/>
            <a:ext cx="631769" cy="24170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 rot="10800000">
            <a:off x="4692298" y="2248593"/>
            <a:ext cx="3397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FE281D-A3A3-4DF5-8D2E-1220D82AE2BA}"/>
              </a:ext>
            </a:extLst>
          </p:cNvPr>
          <p:cNvSpPr/>
          <p:nvPr/>
        </p:nvSpPr>
        <p:spPr>
          <a:xfrm>
            <a:off x="4334402" y="4635492"/>
            <a:ext cx="631769" cy="24170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BAE7A-7AB5-4FB3-B404-908EE7DB18C8}"/>
              </a:ext>
            </a:extLst>
          </p:cNvPr>
          <p:cNvSpPr txBox="1"/>
          <p:nvPr/>
        </p:nvSpPr>
        <p:spPr>
          <a:xfrm rot="10800000">
            <a:off x="10771228" y="5011841"/>
            <a:ext cx="3397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1E317B-A53D-45B6-A7F1-16CB14188E53}"/>
              </a:ext>
            </a:extLst>
          </p:cNvPr>
          <p:cNvSpPr txBox="1"/>
          <p:nvPr/>
        </p:nvSpPr>
        <p:spPr>
          <a:xfrm>
            <a:off x="4673600" y="4618568"/>
            <a:ext cx="3397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794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1B13C5E5-BBF6-41C2-A81A-9680C0A56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572383"/>
              </p:ext>
            </p:extLst>
          </p:nvPr>
        </p:nvGraphicFramePr>
        <p:xfrm>
          <a:off x="-225779" y="1527048"/>
          <a:ext cx="9169930" cy="2292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7D7017D-BED2-428F-B167-93E8BF46F19D}"/>
              </a:ext>
            </a:extLst>
          </p:cNvPr>
          <p:cNvSpPr txBox="1"/>
          <p:nvPr/>
        </p:nvSpPr>
        <p:spPr>
          <a:xfrm>
            <a:off x="152400" y="804100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 변동 추이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작업품목 종류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0EB8FE-7FD2-4DC4-B815-A2DA5038ECB3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1B13C5E5-BBF6-41C2-A81A-9680C0A56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945517"/>
              </p:ext>
            </p:extLst>
          </p:nvPr>
        </p:nvGraphicFramePr>
        <p:xfrm>
          <a:off x="-167145" y="4267200"/>
          <a:ext cx="9002787" cy="2450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직사각형 2"/>
          <p:cNvSpPr/>
          <p:nvPr/>
        </p:nvSpPr>
        <p:spPr>
          <a:xfrm>
            <a:off x="152400" y="1458698"/>
            <a:ext cx="8900160" cy="2485366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57084" y="4267200"/>
            <a:ext cx="8900160" cy="250698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2400" y="1173432"/>
            <a:ext cx="8900160" cy="2852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GROMMET</a:t>
            </a:r>
            <a:endParaRPr lang="ko-KR" altLang="en-US" sz="1600" b="1" dirty="0"/>
          </a:p>
        </p:txBody>
      </p:sp>
      <p:sp>
        <p:nvSpPr>
          <p:cNvPr id="15" name="직사각형 14"/>
          <p:cNvSpPr/>
          <p:nvPr/>
        </p:nvSpPr>
        <p:spPr>
          <a:xfrm>
            <a:off x="152400" y="3984754"/>
            <a:ext cx="8900160" cy="2852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SEAL</a:t>
            </a:r>
            <a:endParaRPr lang="ko-KR" altLang="en-US" sz="1600" b="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4430210" y="2516057"/>
            <a:ext cx="493189" cy="27790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flipV="1">
            <a:off x="4654132" y="5512923"/>
            <a:ext cx="2667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 rot="10800000">
            <a:off x="11291776" y="1212032"/>
            <a:ext cx="30204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</a:t>
            </a:r>
            <a:endParaRPr lang="ko-KR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10086428" y="2365385"/>
            <a:ext cx="33688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319340" y="5217270"/>
            <a:ext cx="255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0924827" y="4267200"/>
            <a:ext cx="28422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4321669" y="5555824"/>
            <a:ext cx="561622" cy="230783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18A0C9-B516-45C8-9940-F9C25658E800}"/>
              </a:ext>
            </a:extLst>
          </p:cNvPr>
          <p:cNvSpPr txBox="1"/>
          <p:nvPr/>
        </p:nvSpPr>
        <p:spPr>
          <a:xfrm flipV="1">
            <a:off x="4769727" y="2514333"/>
            <a:ext cx="22712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791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1B13C5E5-BBF6-41C2-A81A-9680C0A56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6084962"/>
              </p:ext>
            </p:extLst>
          </p:nvPr>
        </p:nvGraphicFramePr>
        <p:xfrm>
          <a:off x="-304305" y="4267200"/>
          <a:ext cx="9002787" cy="2450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1B13C5E5-BBF6-41C2-A81A-9680C0A56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4673521"/>
              </p:ext>
            </p:extLst>
          </p:nvPr>
        </p:nvGraphicFramePr>
        <p:xfrm>
          <a:off x="-380257" y="1527048"/>
          <a:ext cx="9169930" cy="2292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7D7017D-BED2-428F-B167-93E8BF46F19D}"/>
              </a:ext>
            </a:extLst>
          </p:cNvPr>
          <p:cNvSpPr txBox="1"/>
          <p:nvPr/>
        </p:nvSpPr>
        <p:spPr>
          <a:xfrm>
            <a:off x="152400" y="804100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 변동 추이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평균 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SHOT(</a:t>
            </a:r>
            <a:r>
              <a:rPr lang="en-US" altLang="ko-KR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Hr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0EB8FE-7FD2-4DC4-B815-A2DA5038ECB3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4780" y="1458698"/>
            <a:ext cx="8900160" cy="2485366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49464" y="4267200"/>
            <a:ext cx="8900160" cy="250698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2400" y="1173432"/>
            <a:ext cx="8900160" cy="2852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GROMMET</a:t>
            </a:r>
            <a:endParaRPr lang="ko-KR" altLang="en-US" sz="1600" b="1" dirty="0"/>
          </a:p>
        </p:txBody>
      </p:sp>
      <p:sp>
        <p:nvSpPr>
          <p:cNvPr id="15" name="직사각형 14"/>
          <p:cNvSpPr/>
          <p:nvPr/>
        </p:nvSpPr>
        <p:spPr>
          <a:xfrm>
            <a:off x="144780" y="3984754"/>
            <a:ext cx="8900160" cy="2852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SEAL</a:t>
            </a:r>
            <a:endParaRPr lang="ko-KR" altLang="en-US" sz="1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9990460" y="3121223"/>
            <a:ext cx="31851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현대하모니 L" pitchFamily="18" charset="-127"/>
                <a:ea typeface="현대하모니 L" pitchFamily="18" charset="-127"/>
              </a:rPr>
              <a:t>-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 flipV="1">
            <a:off x="10920525" y="5731781"/>
            <a:ext cx="2667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10800000" flipV="1">
            <a:off x="4386546" y="5108488"/>
            <a:ext cx="31887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 rot="10800000">
            <a:off x="4261222" y="1556026"/>
            <a:ext cx="528786" cy="266136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 rot="10800000" flipV="1">
            <a:off x="4444999" y="1536896"/>
            <a:ext cx="2667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E7DA5A-2E4D-470B-9C88-7EB7D03EE173}"/>
              </a:ext>
            </a:extLst>
          </p:cNvPr>
          <p:cNvSpPr/>
          <p:nvPr/>
        </p:nvSpPr>
        <p:spPr>
          <a:xfrm rot="10800000">
            <a:off x="4145094" y="5101947"/>
            <a:ext cx="528786" cy="266136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24A739-2ECA-475B-83EF-0FAB1F60C303}"/>
              </a:ext>
            </a:extLst>
          </p:cNvPr>
          <p:cNvSpPr txBox="1"/>
          <p:nvPr/>
        </p:nvSpPr>
        <p:spPr>
          <a:xfrm flipV="1">
            <a:off x="9857109" y="4954600"/>
            <a:ext cx="2667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920FF"/>
                </a:solidFill>
                <a:latin typeface="현대하모니 L" pitchFamily="18" charset="-127"/>
                <a:ea typeface="현대하모니 L" pitchFamily="18" charset="-127"/>
              </a:rPr>
              <a:t>▲</a:t>
            </a:r>
            <a:endParaRPr lang="ko-KR" altLang="en-US" sz="1400" dirty="0">
              <a:solidFill>
                <a:srgbClr val="092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934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32886488-6575-4B3D-97D1-E22E085863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221540"/>
              </p:ext>
            </p:extLst>
          </p:nvPr>
        </p:nvGraphicFramePr>
        <p:xfrm>
          <a:off x="559501" y="4404944"/>
          <a:ext cx="4626266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0335A915-347F-4EB1-9679-AD216CF45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0020037"/>
              </p:ext>
            </p:extLst>
          </p:nvPr>
        </p:nvGraphicFramePr>
        <p:xfrm>
          <a:off x="559501" y="1934951"/>
          <a:ext cx="4672667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8113" y="1511319"/>
            <a:ext cx="8507077" cy="309330"/>
          </a:xfrm>
          <a:prstGeom prst="rect">
            <a:avLst/>
          </a:prstGeom>
          <a:solidFill>
            <a:srgbClr val="0057A7"/>
          </a:solidFill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03402" eaLnBrk="0" hangingPunct="0"/>
            <a:r>
              <a:rPr lang="ko-KR" altLang="en-US" sz="1292" b="1" dirty="0">
                <a:solidFill>
                  <a:prstClr val="whit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제품별  실적현황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08113" y="1827982"/>
            <a:ext cx="8507077" cy="4905327"/>
          </a:xfrm>
          <a:prstGeom prst="rect">
            <a:avLst/>
          </a:prstGeom>
          <a:noFill/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83077" tIns="84406" rIns="83077" bIns="43200"/>
          <a:lstStyle/>
          <a:p>
            <a:pPr defTabSz="830894">
              <a:spcBef>
                <a:spcPts val="1385"/>
              </a:spcBef>
              <a:buClr>
                <a:schemeClr val="tx1"/>
              </a:buClr>
            </a:pPr>
            <a:endParaRPr lang="en-GB" altLang="ko-KR" sz="1108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444839" y="2147355"/>
            <a:ext cx="266952" cy="1380416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" name="실행 단추: 돌아가기 16">
            <a:hlinkClick r:id="rId6" action="ppaction://hlinksldjump" highlightClick="1"/>
          </p:cNvPr>
          <p:cNvSpPr/>
          <p:nvPr/>
        </p:nvSpPr>
        <p:spPr>
          <a:xfrm>
            <a:off x="8693073" y="848000"/>
            <a:ext cx="317575" cy="288890"/>
          </a:xfrm>
          <a:prstGeom prst="actionButtonReturn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1BBCF37-4D9C-4D7A-AA7D-A10F98B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862488"/>
              </p:ext>
            </p:extLst>
          </p:nvPr>
        </p:nvGraphicFramePr>
        <p:xfrm>
          <a:off x="5237997" y="4328155"/>
          <a:ext cx="3347203" cy="2315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765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290842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154448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  <a:gridCol w="541148">
                  <a:extLst>
                    <a:ext uri="{9D8B030D-6E8A-4147-A177-3AD203B41FA5}">
                      <a16:colId xmlns:a16="http://schemas.microsoft.com/office/drawing/2014/main" val="3391507168"/>
                    </a:ext>
                  </a:extLst>
                </a:gridCol>
              </a:tblGrid>
              <a:tr h="243845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생산금액</a:t>
                      </a:r>
                      <a:r>
                        <a:rPr lang="ko-KR" altLang="en-US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원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i="0" u="none" strike="noStrike" kern="1200" dirty="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211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품번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생산금액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비중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204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MX5D-P6210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123,489,229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IK 9830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102,042,720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MX5-P6510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89,508,922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AE RESOLVER-GROMMET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83,687,562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 9820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46,316,160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YF 9810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41,309,928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266979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altLang="ko-KR" sz="6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R2084-D400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36,156,120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00418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KA4H-P7010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29,501,161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437899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SP3-BS010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28,597,914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880676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NX4 N9080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28,196,000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9151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67C96223-0CC1-4234-91FC-22569CBB2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677650"/>
              </p:ext>
            </p:extLst>
          </p:nvPr>
        </p:nvGraphicFramePr>
        <p:xfrm>
          <a:off x="5237997" y="1905178"/>
          <a:ext cx="3334413" cy="2358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60">
                  <a:extLst>
                    <a:ext uri="{9D8B030D-6E8A-4147-A177-3AD203B41FA5}">
                      <a16:colId xmlns:a16="http://schemas.microsoft.com/office/drawing/2014/main" val="1248021852"/>
                    </a:ext>
                  </a:extLst>
                </a:gridCol>
                <a:gridCol w="1301452">
                  <a:extLst>
                    <a:ext uri="{9D8B030D-6E8A-4147-A177-3AD203B41FA5}">
                      <a16:colId xmlns:a16="http://schemas.microsoft.com/office/drawing/2014/main" val="3384398615"/>
                    </a:ext>
                  </a:extLst>
                </a:gridCol>
                <a:gridCol w="1141311">
                  <a:extLst>
                    <a:ext uri="{9D8B030D-6E8A-4147-A177-3AD203B41FA5}">
                      <a16:colId xmlns:a16="http://schemas.microsoft.com/office/drawing/2014/main" val="4197350508"/>
                    </a:ext>
                  </a:extLst>
                </a:gridCol>
                <a:gridCol w="534990">
                  <a:extLst>
                    <a:ext uri="{9D8B030D-6E8A-4147-A177-3AD203B41FA5}">
                      <a16:colId xmlns:a16="http://schemas.microsoft.com/office/drawing/2014/main" val="3595754037"/>
                    </a:ext>
                  </a:extLst>
                </a:gridCol>
              </a:tblGrid>
              <a:tr h="251282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생산수량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(EA)</a:t>
                      </a:r>
                      <a:endParaRPr lang="ko-KR" altLang="en-US" sz="900" b="1" u="none" strike="noStrike" kern="1200" dirty="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814242"/>
                  </a:ext>
                </a:extLst>
              </a:tr>
              <a:tr h="2252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NO</a:t>
                      </a:r>
                      <a:endParaRPr 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품번</a:t>
                      </a:r>
                      <a:endParaRPr lang="ko-KR" alt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생산수량</a:t>
                      </a:r>
                      <a:endParaRPr lang="ko-KR" alt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비중</a:t>
                      </a:r>
                      <a:endParaRPr lang="ko-KR" alt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72711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410001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1,320,000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48257"/>
                  </a:ext>
                </a:extLst>
              </a:tr>
              <a:tr h="2339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410002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988,400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829966"/>
                  </a:ext>
                </a:extLst>
              </a:tr>
              <a:tr h="16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NU 615470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439,920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421284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RG3 614837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399,456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95021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430001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356,800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233793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A19189-4000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333,920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03929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GL3 610853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307,360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019691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삼금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282,013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48106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NEOR GI000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275,856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9051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AE RESOLVER-GROMMET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259,980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41733"/>
                  </a:ext>
                </a:extLst>
              </a:tr>
            </a:tbl>
          </a:graphicData>
        </a:graphic>
      </p:graphicFrame>
      <p:sp>
        <p:nvSpPr>
          <p:cNvPr id="27" name="Rectangle 11">
            <a:extLst>
              <a:ext uri="{FF2B5EF4-FFF2-40B4-BE49-F238E27FC236}">
                <a16:creationId xmlns:a16="http://schemas.microsoft.com/office/drawing/2014/main" id="{C4CB6FCC-9844-407E-A507-7F7AE9E2F6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0554" y="1088864"/>
            <a:ext cx="8486275" cy="498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108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410001 (1,320,000 EA)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 전체대비 </a:t>
            </a:r>
            <a:r>
              <a:rPr lang="en-US" altLang="ko-KR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14%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로 </a:t>
            </a:r>
            <a:r>
              <a:rPr lang="ko-KR" altLang="en-US" sz="1108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생산수량 비중 차지</a:t>
            </a:r>
            <a:endParaRPr lang="en-US" altLang="ko-KR" sz="1108" b="1" kern="0" dirty="0">
              <a:solidFill>
                <a:srgbClr val="0920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108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MX5D-P6210 (123,489,229</a:t>
            </a:r>
            <a:r>
              <a:rPr lang="ko-KR" altLang="en-US" sz="1108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원</a:t>
            </a:r>
            <a:r>
              <a:rPr lang="en-US" altLang="ko-KR" sz="1108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</a:t>
            </a:r>
            <a:r>
              <a:rPr lang="en-US" altLang="ko-KR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전체대비 </a:t>
            </a:r>
            <a:r>
              <a:rPr lang="en-US" altLang="ko-KR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9%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로 </a:t>
            </a:r>
            <a:r>
              <a:rPr lang="ko-KR" altLang="en-US" sz="1108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생산금액 비중 차지</a:t>
            </a:r>
            <a:endParaRPr lang="en-US" altLang="ko-KR" sz="1108" b="1" kern="0" dirty="0">
              <a:solidFill>
                <a:srgbClr val="0920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769E24-1D90-4A45-A136-5FC231645C90}"/>
              </a:ext>
            </a:extLst>
          </p:cNvPr>
          <p:cNvSpPr txBox="1"/>
          <p:nvPr/>
        </p:nvSpPr>
        <p:spPr>
          <a:xfrm>
            <a:off x="152400" y="768475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제품별 실적현황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59A9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GROMMET</a:t>
            </a:r>
            <a:endParaRPr lang="ko-KR" altLang="en-US" b="1" dirty="0">
              <a:solidFill>
                <a:srgbClr val="0059A9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EBB09D-C013-4FC5-AF7B-D3751C2FD6F6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578315" y="4605584"/>
            <a:ext cx="306165" cy="1306642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103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32886488-6575-4B3D-97D1-E22E085863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7849102"/>
              </p:ext>
            </p:extLst>
          </p:nvPr>
        </p:nvGraphicFramePr>
        <p:xfrm>
          <a:off x="608312" y="1993597"/>
          <a:ext cx="4626266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0335A915-347F-4EB1-9679-AD216CF45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2042972"/>
              </p:ext>
            </p:extLst>
          </p:nvPr>
        </p:nvGraphicFramePr>
        <p:xfrm>
          <a:off x="549392" y="4411124"/>
          <a:ext cx="4672667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8113" y="1519557"/>
            <a:ext cx="8507077" cy="30933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03402" eaLnBrk="0" hangingPunct="0"/>
            <a:r>
              <a:rPr lang="ko-KR" altLang="en-US" sz="1292" b="1" dirty="0">
                <a:solidFill>
                  <a:prstClr val="whit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제품별  실적현황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08113" y="1827982"/>
            <a:ext cx="8507077" cy="4905327"/>
          </a:xfrm>
          <a:prstGeom prst="rect">
            <a:avLst/>
          </a:prstGeom>
          <a:noFill/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83077" tIns="84406" rIns="83077" bIns="43200"/>
          <a:lstStyle/>
          <a:p>
            <a:pPr defTabSz="830894">
              <a:spcBef>
                <a:spcPts val="1385"/>
              </a:spcBef>
              <a:buClr>
                <a:schemeClr val="tx1"/>
              </a:buClr>
            </a:pPr>
            <a:endParaRPr lang="en-GB" altLang="ko-KR" sz="1108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454615" y="4608313"/>
            <a:ext cx="288600" cy="14686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" name="실행 단추: 돌아가기 16">
            <a:hlinkClick r:id="rId6" action="ppaction://hlinksldjump" highlightClick="1"/>
          </p:cNvPr>
          <p:cNvSpPr/>
          <p:nvPr/>
        </p:nvSpPr>
        <p:spPr>
          <a:xfrm>
            <a:off x="8693073" y="848000"/>
            <a:ext cx="317575" cy="288890"/>
          </a:xfrm>
          <a:prstGeom prst="actionButtonReturn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1BBCF37-4D9C-4D7A-AA7D-A10F98B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88307"/>
              </p:ext>
            </p:extLst>
          </p:nvPr>
        </p:nvGraphicFramePr>
        <p:xfrm>
          <a:off x="5237997" y="1916808"/>
          <a:ext cx="3347203" cy="23170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765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290842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154448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  <a:gridCol w="541148">
                  <a:extLst>
                    <a:ext uri="{9D8B030D-6E8A-4147-A177-3AD203B41FA5}">
                      <a16:colId xmlns:a16="http://schemas.microsoft.com/office/drawing/2014/main" val="3391507168"/>
                    </a:ext>
                  </a:extLst>
                </a:gridCol>
              </a:tblGrid>
              <a:tr h="24384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생산수량</a:t>
                      </a:r>
                      <a:r>
                        <a:rPr lang="en-US" altLang="ko-KR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(EA)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품번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생산수량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비중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685390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9,066,584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681114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6,830,780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685394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3,926,016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681159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3,643,200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682622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3,087,450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680449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3,012,216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266979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682620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2,460,414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00418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681266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1,854,020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437899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680450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1,747,530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880676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683293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1,717,632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9151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67C96223-0CC1-4234-91FC-22569CBB2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07348"/>
              </p:ext>
            </p:extLst>
          </p:nvPr>
        </p:nvGraphicFramePr>
        <p:xfrm>
          <a:off x="5237997" y="4361999"/>
          <a:ext cx="3334413" cy="2313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60">
                  <a:extLst>
                    <a:ext uri="{9D8B030D-6E8A-4147-A177-3AD203B41FA5}">
                      <a16:colId xmlns:a16="http://schemas.microsoft.com/office/drawing/2014/main" val="1248021852"/>
                    </a:ext>
                  </a:extLst>
                </a:gridCol>
                <a:gridCol w="1301452">
                  <a:extLst>
                    <a:ext uri="{9D8B030D-6E8A-4147-A177-3AD203B41FA5}">
                      <a16:colId xmlns:a16="http://schemas.microsoft.com/office/drawing/2014/main" val="3384398615"/>
                    </a:ext>
                  </a:extLst>
                </a:gridCol>
                <a:gridCol w="1141311">
                  <a:extLst>
                    <a:ext uri="{9D8B030D-6E8A-4147-A177-3AD203B41FA5}">
                      <a16:colId xmlns:a16="http://schemas.microsoft.com/office/drawing/2014/main" val="4197350508"/>
                    </a:ext>
                  </a:extLst>
                </a:gridCol>
                <a:gridCol w="534990">
                  <a:extLst>
                    <a:ext uri="{9D8B030D-6E8A-4147-A177-3AD203B41FA5}">
                      <a16:colId xmlns:a16="http://schemas.microsoft.com/office/drawing/2014/main" val="3595754037"/>
                    </a:ext>
                  </a:extLst>
                </a:gridCol>
              </a:tblGrid>
              <a:tr h="25128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생산금액 </a:t>
                      </a:r>
                      <a:r>
                        <a:rPr lang="en-US" altLang="ko-KR" sz="9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원</a:t>
                      </a:r>
                      <a:r>
                        <a:rPr lang="en-US" altLang="ko-KR" sz="9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814242"/>
                  </a:ext>
                </a:extLst>
              </a:tr>
              <a:tr h="2219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품번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생산금액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비중</a:t>
                      </a:r>
                      <a:endParaRPr lang="ko-KR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72711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685390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72,532,672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4825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681114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59,837,633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829966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685683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54,215,381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421284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680449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42,683,101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95021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681159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39,783,744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233793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R600070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38,174,449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03929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7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685394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29,052,518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019691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R603625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28,271,550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48106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9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680450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24,762,500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9051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R600050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24,203,219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41733"/>
                  </a:ext>
                </a:extLst>
              </a:tr>
            </a:tbl>
          </a:graphicData>
        </a:graphic>
      </p:graphicFrame>
      <p:sp>
        <p:nvSpPr>
          <p:cNvPr id="27" name="Rectangle 11">
            <a:extLst>
              <a:ext uri="{FF2B5EF4-FFF2-40B4-BE49-F238E27FC236}">
                <a16:creationId xmlns:a16="http://schemas.microsoft.com/office/drawing/2014/main" id="{C4CB6FCC-9844-407E-A507-7F7AE9E2F6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0554" y="1088864"/>
            <a:ext cx="8486275" cy="498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685390 (9,066,584 EA)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</a:t>
            </a:r>
            <a:r>
              <a:rPr lang="en-US" altLang="ko-KR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전체대비 </a:t>
            </a:r>
            <a:r>
              <a:rPr lang="en-US" altLang="ko-KR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16%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로 </a:t>
            </a:r>
            <a:r>
              <a:rPr lang="ko-KR" altLang="en-US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생산수량 비중 차지</a:t>
            </a:r>
            <a:endParaRPr lang="en-US" altLang="ko-KR" sz="1108" b="1" kern="0" dirty="0">
              <a:solidFill>
                <a:schemeClr val="accent6">
                  <a:lumMod val="7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685390 (72,532,672 </a:t>
            </a:r>
            <a:r>
              <a:rPr lang="ko-KR" altLang="en-US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원</a:t>
            </a:r>
            <a:r>
              <a:rPr lang="en-US" altLang="ko-KR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 전체대비 </a:t>
            </a:r>
            <a:r>
              <a:rPr lang="en-US" altLang="ko-KR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10%</a:t>
            </a:r>
            <a:r>
              <a:rPr lang="ko-KR" altLang="en-US" sz="1108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로 </a:t>
            </a:r>
            <a:r>
              <a:rPr lang="ko-KR" altLang="en-US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생산금액 비중 차지</a:t>
            </a:r>
            <a:endParaRPr lang="en-US" altLang="ko-KR" sz="1108" b="1" kern="0" dirty="0">
              <a:solidFill>
                <a:srgbClr val="0920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769E24-1D90-4A45-A136-5FC231645C90}"/>
              </a:ext>
            </a:extLst>
          </p:cNvPr>
          <p:cNvSpPr txBox="1"/>
          <p:nvPr/>
        </p:nvSpPr>
        <p:spPr>
          <a:xfrm>
            <a:off x="152400" y="768475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제품별 실적현황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66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SEAL</a:t>
            </a:r>
            <a:endParaRPr lang="ko-KR" altLang="en-US" b="1" dirty="0">
              <a:solidFill>
                <a:srgbClr val="0066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EBB09D-C013-4FC5-AF7B-D3751C2FD6F6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488220" y="2138656"/>
            <a:ext cx="288600" cy="154131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721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6D9050E8-2FE6-47B3-A005-5DAF8AB8FB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823709"/>
              </p:ext>
            </p:extLst>
          </p:nvPr>
        </p:nvGraphicFramePr>
        <p:xfrm>
          <a:off x="628649" y="2109010"/>
          <a:ext cx="4848225" cy="204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6D4FC156-4F0B-4B2C-80BB-9CF9F5DA4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5802115"/>
              </p:ext>
            </p:extLst>
          </p:nvPr>
        </p:nvGraphicFramePr>
        <p:xfrm>
          <a:off x="400050" y="4390815"/>
          <a:ext cx="5143499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8112" y="1612323"/>
            <a:ext cx="8508091" cy="30933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03402" eaLnBrk="0" hangingPunct="0"/>
            <a:r>
              <a:rPr lang="ko-KR" altLang="en-US" sz="1292" b="1" dirty="0">
                <a:solidFill>
                  <a:prstClr val="white"/>
                </a:solidFill>
                <a:latin typeface="맑은 고딕"/>
                <a:ea typeface="맑은 고딕"/>
              </a:rPr>
              <a:t>작업자별 실적 현황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08113" y="1921653"/>
            <a:ext cx="8507077" cy="4785762"/>
          </a:xfrm>
          <a:prstGeom prst="rect">
            <a:avLst/>
          </a:prstGeom>
          <a:noFill/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83077" tIns="84406" rIns="83077" bIns="43200"/>
          <a:lstStyle/>
          <a:p>
            <a:pPr defTabSz="830894">
              <a:spcBef>
                <a:spcPts val="1385"/>
              </a:spcBef>
              <a:buClr>
                <a:schemeClr val="tx1"/>
              </a:buClr>
            </a:pPr>
            <a:endParaRPr lang="en-GB" altLang="ko-KR" sz="1108" dirty="0">
              <a:latin typeface="+mn-ea"/>
            </a:endParaRPr>
          </a:p>
        </p:txBody>
      </p:sp>
      <p:sp>
        <p:nvSpPr>
          <p:cNvPr id="17" name="실행 단추: 돌아가기 16">
            <a:hlinkClick r:id="rId6" action="ppaction://hlinksldjump" highlightClick="1"/>
          </p:cNvPr>
          <p:cNvSpPr/>
          <p:nvPr/>
        </p:nvSpPr>
        <p:spPr>
          <a:xfrm>
            <a:off x="8693073" y="848000"/>
            <a:ext cx="317575" cy="288890"/>
          </a:xfrm>
          <a:prstGeom prst="actionButtonReturn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C4CB6FCC-9844-407E-A507-7F7AE9E2F6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8112" y="1226686"/>
            <a:ext cx="8882224" cy="384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buFont typeface="Wingdings" pitchFamily="2" charset="2"/>
              <a:buChar char="Ø"/>
              <a:defRPr/>
            </a:pPr>
            <a:r>
              <a:rPr lang="ko-KR" altLang="en-US" sz="11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권기영 작업자가 </a:t>
            </a:r>
            <a:r>
              <a:rPr lang="en-US" altLang="ko-KR" sz="11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(453,229 EA)</a:t>
            </a:r>
            <a:r>
              <a:rPr lang="ko-KR" altLang="en-US" sz="11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수량의 </a:t>
            </a:r>
            <a:r>
              <a:rPr lang="en-US" altLang="ko-KR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ITEM </a:t>
            </a:r>
            <a:r>
              <a:rPr lang="ko-KR" altLang="en-US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 </a:t>
            </a:r>
            <a:endParaRPr lang="en-US" altLang="ko-KR" sz="1100" b="1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844083">
              <a:buFont typeface="Wingdings" pitchFamily="2" charset="2"/>
              <a:buChar char="Ø"/>
              <a:defRPr/>
            </a:pPr>
            <a:r>
              <a:rPr lang="ko-KR" altLang="en-US" sz="1100" b="1" kern="0" dirty="0" err="1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녹펑</a:t>
            </a:r>
            <a:r>
              <a:rPr lang="ko-KR" altLang="en-US" sz="11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작업자가 </a:t>
            </a:r>
            <a:r>
              <a:rPr lang="en-US" altLang="ko-KR" sz="11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(59,763,444 </a:t>
            </a:r>
            <a:r>
              <a:rPr lang="ko-KR" altLang="en-US" sz="11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원</a:t>
            </a:r>
            <a:r>
              <a:rPr lang="en-US" altLang="ko-KR" sz="11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금액의 </a:t>
            </a:r>
            <a:r>
              <a:rPr lang="en-US" altLang="ko-KR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ITEM </a:t>
            </a:r>
            <a:r>
              <a:rPr lang="ko-KR" altLang="en-US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</a:t>
            </a:r>
            <a:endParaRPr lang="en-US" altLang="ko-KR" sz="1100" b="1" kern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99839" y="4695568"/>
            <a:ext cx="400006" cy="172170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428850" y="2226405"/>
            <a:ext cx="368843" cy="164507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CF8D8-D0A4-4675-A79B-447D0D42ADBC}"/>
              </a:ext>
            </a:extLst>
          </p:cNvPr>
          <p:cNvSpPr txBox="1"/>
          <p:nvPr/>
        </p:nvSpPr>
        <p:spPr>
          <a:xfrm>
            <a:off x="152400" y="768475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2) </a:t>
            </a:r>
            <a:r>
              <a:rPr lang="ko-KR" altLang="en-US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작업자별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실적현황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59A9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GROMMET</a:t>
            </a:r>
            <a:endParaRPr lang="ko-KR" altLang="en-US" b="1" dirty="0">
              <a:solidFill>
                <a:srgbClr val="0059A9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250469-DC55-4760-9030-9D1FB7D49B97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1BBCF37-4D9C-4D7A-AA7D-A10F98B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43863"/>
              </p:ext>
            </p:extLst>
          </p:nvPr>
        </p:nvGraphicFramePr>
        <p:xfrm>
          <a:off x="5442996" y="4328155"/>
          <a:ext cx="3250077" cy="2323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51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495101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337125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</a:tblGrid>
              <a:tr h="243845"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생산금액</a:t>
                      </a:r>
                      <a:r>
                        <a:rPr lang="ko-KR" altLang="en-US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원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i="0" u="none" strike="noStrike" kern="1200" dirty="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211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품번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생산금액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204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녹펑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59,763,444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반용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59,280,156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1911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두안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D)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53,211,127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선하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52,769,708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녹중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52,597,216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반훙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52,574,965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266979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딩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48,342,813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00418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반하이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D)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42,338,002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437899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둥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41,285,749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880676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안반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39,852,757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91510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7C96223-0CC1-4234-91FC-22569CBB2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626513"/>
              </p:ext>
            </p:extLst>
          </p:nvPr>
        </p:nvGraphicFramePr>
        <p:xfrm>
          <a:off x="5442996" y="1946743"/>
          <a:ext cx="3250076" cy="23191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075">
                  <a:extLst>
                    <a:ext uri="{9D8B030D-6E8A-4147-A177-3AD203B41FA5}">
                      <a16:colId xmlns:a16="http://schemas.microsoft.com/office/drawing/2014/main" val="1248021852"/>
                    </a:ext>
                  </a:extLst>
                </a:gridCol>
                <a:gridCol w="1510961">
                  <a:extLst>
                    <a:ext uri="{9D8B030D-6E8A-4147-A177-3AD203B41FA5}">
                      <a16:colId xmlns:a16="http://schemas.microsoft.com/office/drawing/2014/main" val="3384398615"/>
                    </a:ext>
                  </a:extLst>
                </a:gridCol>
                <a:gridCol w="1325040">
                  <a:extLst>
                    <a:ext uri="{9D8B030D-6E8A-4147-A177-3AD203B41FA5}">
                      <a16:colId xmlns:a16="http://schemas.microsoft.com/office/drawing/2014/main" val="4197350508"/>
                    </a:ext>
                  </a:extLst>
                </a:gridCol>
              </a:tblGrid>
              <a:tr h="251282"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생산수량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(EA)</a:t>
                      </a:r>
                      <a:endParaRPr lang="ko-KR" altLang="en-US" sz="900" b="1" u="none" strike="noStrike" kern="1200" dirty="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814242"/>
                  </a:ext>
                </a:extLst>
              </a:tr>
              <a:tr h="2219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NO</a:t>
                      </a:r>
                      <a:endParaRPr 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품번</a:t>
                      </a:r>
                      <a:endParaRPr lang="ko-KR" alt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생산수량</a:t>
                      </a:r>
                      <a:endParaRPr lang="ko-KR" alt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72711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권기영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453,229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48257"/>
                  </a:ext>
                </a:extLst>
              </a:tr>
              <a:tr h="1968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보냣민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375,807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829966"/>
                  </a:ext>
                </a:extLst>
              </a:tr>
              <a:tr h="176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365,688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421284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안반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225,276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95021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광이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217,961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233793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en-US" altLang="ko-KR" sz="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둥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191,960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03929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공민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190,767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019691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도안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183,493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48106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두안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D)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171,444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9051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링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163,470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41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350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6D9050E8-2FE6-47B3-A005-5DAF8AB8FB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2456160"/>
              </p:ext>
            </p:extLst>
          </p:nvPr>
        </p:nvGraphicFramePr>
        <p:xfrm>
          <a:off x="628649" y="2109010"/>
          <a:ext cx="4848225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6D4FC156-4F0B-4B2C-80BB-9CF9F5DA4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9677250"/>
              </p:ext>
            </p:extLst>
          </p:nvPr>
        </p:nvGraphicFramePr>
        <p:xfrm>
          <a:off x="400050" y="4390815"/>
          <a:ext cx="5143499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8112" y="1612323"/>
            <a:ext cx="8508091" cy="30933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03402" eaLnBrk="0" hangingPunct="0"/>
            <a:r>
              <a:rPr lang="ko-KR" altLang="en-US" sz="1292" b="1" dirty="0">
                <a:solidFill>
                  <a:prstClr val="white"/>
                </a:solidFill>
                <a:latin typeface="맑은 고딕"/>
                <a:ea typeface="맑은 고딕"/>
              </a:rPr>
              <a:t>작업자별 실적 현황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08113" y="1921653"/>
            <a:ext cx="8507077" cy="4785762"/>
          </a:xfrm>
          <a:prstGeom prst="rect">
            <a:avLst/>
          </a:prstGeom>
          <a:noFill/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83077" tIns="84406" rIns="83077" bIns="43200"/>
          <a:lstStyle/>
          <a:p>
            <a:pPr defTabSz="830894">
              <a:spcBef>
                <a:spcPts val="1385"/>
              </a:spcBef>
              <a:buClr>
                <a:schemeClr val="tx1"/>
              </a:buClr>
            </a:pPr>
            <a:endParaRPr lang="en-GB" altLang="ko-KR" sz="1108" dirty="0">
              <a:latin typeface="+mn-ea"/>
            </a:endParaRPr>
          </a:p>
        </p:txBody>
      </p:sp>
      <p:sp>
        <p:nvSpPr>
          <p:cNvPr id="17" name="실행 단추: 돌아가기 16">
            <a:hlinkClick r:id="rId6" action="ppaction://hlinksldjump" highlightClick="1"/>
          </p:cNvPr>
          <p:cNvSpPr/>
          <p:nvPr/>
        </p:nvSpPr>
        <p:spPr>
          <a:xfrm>
            <a:off x="8693073" y="848000"/>
            <a:ext cx="317575" cy="288890"/>
          </a:xfrm>
          <a:prstGeom prst="actionButtonReturn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C4CB6FCC-9844-407E-A507-7F7AE9E2F6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8112" y="1160861"/>
            <a:ext cx="8882224" cy="384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buFont typeface="Wingdings" pitchFamily="2" charset="2"/>
              <a:buChar char="Ø"/>
              <a:defRPr/>
            </a:pPr>
            <a:r>
              <a:rPr lang="ko-KR" altLang="en-US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안탐 작업자가 </a:t>
            </a:r>
            <a:r>
              <a:rPr lang="en-US" altLang="ko-KR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(4,301,583 EA)</a:t>
            </a:r>
            <a:r>
              <a:rPr lang="en-US" altLang="ko-KR" sz="11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수량의 </a:t>
            </a:r>
            <a:r>
              <a:rPr lang="en-US" altLang="ko-KR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ITEM </a:t>
            </a:r>
            <a:r>
              <a:rPr lang="ko-KR" altLang="en-US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</a:t>
            </a:r>
            <a:endParaRPr lang="en-US" altLang="ko-KR" sz="1100" b="1" kern="0" dirty="0">
              <a:solidFill>
                <a:srgbClr val="0066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844083">
              <a:buFont typeface="Wingdings" pitchFamily="2" charset="2"/>
              <a:buChar char="Ø"/>
              <a:defRPr/>
            </a:pPr>
            <a:r>
              <a:rPr lang="ko-KR" altLang="en-US" sz="1100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8" b="1" kern="0" dirty="0" err="1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티시우</a:t>
            </a:r>
            <a:r>
              <a:rPr lang="ko-KR" altLang="en-US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작업자가 </a:t>
            </a:r>
            <a:r>
              <a:rPr lang="en-US" altLang="ko-KR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(49,545,280 </a:t>
            </a:r>
            <a:r>
              <a:rPr lang="ko-KR" altLang="en-US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원</a:t>
            </a:r>
            <a:r>
              <a:rPr lang="en-US" altLang="ko-KR" sz="1108" b="1" kern="0" dirty="0">
                <a:solidFill>
                  <a:schemeClr val="accent6">
                    <a:lumMod val="7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가장 많은 금액의 </a:t>
            </a:r>
            <a:r>
              <a:rPr lang="en-US" altLang="ko-KR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ITEM </a:t>
            </a:r>
            <a:r>
              <a:rPr lang="ko-KR" altLang="en-US" sz="11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생산</a:t>
            </a:r>
            <a:endParaRPr lang="en-US" altLang="ko-KR" sz="1108" b="1" kern="0" dirty="0">
              <a:solidFill>
                <a:schemeClr val="accent6">
                  <a:lumMod val="7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20091" y="4573829"/>
            <a:ext cx="381569" cy="146868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567848" y="2200930"/>
            <a:ext cx="368843" cy="1540372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CF8D8-D0A4-4675-A79B-447D0D42ADBC}"/>
              </a:ext>
            </a:extLst>
          </p:cNvPr>
          <p:cNvSpPr txBox="1"/>
          <p:nvPr/>
        </p:nvSpPr>
        <p:spPr>
          <a:xfrm>
            <a:off x="152400" y="768475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2) </a:t>
            </a:r>
            <a:r>
              <a:rPr lang="ko-KR" altLang="en-US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작업자별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실적현황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66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SEAL</a:t>
            </a:r>
            <a:endParaRPr lang="ko-KR" altLang="en-US" b="1" dirty="0">
              <a:solidFill>
                <a:srgbClr val="0066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250469-DC55-4760-9030-9D1FB7D49B97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1BBCF37-4D9C-4D7A-AA7D-A10F98B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781609"/>
              </p:ext>
            </p:extLst>
          </p:nvPr>
        </p:nvGraphicFramePr>
        <p:xfrm>
          <a:off x="5442996" y="4328155"/>
          <a:ext cx="3250077" cy="2315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51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495101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337125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</a:tblGrid>
              <a:tr h="243845"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생산금액</a:t>
                      </a:r>
                      <a:r>
                        <a:rPr lang="ko-KR" altLang="en-US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원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i="0" u="none" strike="noStrike" kern="1200" dirty="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211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품번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생산금액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2041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티시우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49,545,280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티히엔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40,576,550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38,703,645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튀린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36,412,035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응억선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35,760,149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안탐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34,412,664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266979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응안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33,264,862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00418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반록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29,920,645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437899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마이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28,536,865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880676"/>
                  </a:ext>
                </a:extLst>
              </a:tr>
              <a:tr h="18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홍탐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26,535,231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91510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7C96223-0CC1-4234-91FC-22569CBB2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433438"/>
              </p:ext>
            </p:extLst>
          </p:nvPr>
        </p:nvGraphicFramePr>
        <p:xfrm>
          <a:off x="5442996" y="1946743"/>
          <a:ext cx="3250076" cy="2291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075">
                  <a:extLst>
                    <a:ext uri="{9D8B030D-6E8A-4147-A177-3AD203B41FA5}">
                      <a16:colId xmlns:a16="http://schemas.microsoft.com/office/drawing/2014/main" val="1248021852"/>
                    </a:ext>
                  </a:extLst>
                </a:gridCol>
                <a:gridCol w="1510961">
                  <a:extLst>
                    <a:ext uri="{9D8B030D-6E8A-4147-A177-3AD203B41FA5}">
                      <a16:colId xmlns:a16="http://schemas.microsoft.com/office/drawing/2014/main" val="3384398615"/>
                    </a:ext>
                  </a:extLst>
                </a:gridCol>
                <a:gridCol w="1325040">
                  <a:extLst>
                    <a:ext uri="{9D8B030D-6E8A-4147-A177-3AD203B41FA5}">
                      <a16:colId xmlns:a16="http://schemas.microsoft.com/office/drawing/2014/main" val="4197350508"/>
                    </a:ext>
                  </a:extLst>
                </a:gridCol>
              </a:tblGrid>
              <a:tr h="251282"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생산수량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(EA)</a:t>
                      </a:r>
                      <a:endParaRPr lang="ko-KR" altLang="en-US" sz="900" b="1" u="none" strike="noStrike" kern="1200" dirty="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814242"/>
                  </a:ext>
                </a:extLst>
              </a:tr>
              <a:tr h="2219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NO</a:t>
                      </a:r>
                      <a:endParaRPr 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품번</a:t>
                      </a:r>
                      <a:endParaRPr lang="ko-KR" alt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생산수량</a:t>
                      </a:r>
                      <a:endParaRPr lang="ko-KR" alt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72711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안탐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4,301,583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48257"/>
                  </a:ext>
                </a:extLst>
              </a:tr>
              <a:tr h="1886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마이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3,257,633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829966"/>
                  </a:ext>
                </a:extLst>
              </a:tr>
              <a:tr h="700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홍탐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3,194,966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421284"/>
                  </a:ext>
                </a:extLst>
              </a:tr>
              <a:tr h="98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반록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3,137,392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950217"/>
                  </a:ext>
                </a:extLst>
              </a:tr>
              <a:tr h="1621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반하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2,821,787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233793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en-US" altLang="ko-KR" sz="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단민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2,786,688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03929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반히엡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2,724,308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019691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탕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2,691,135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48106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치그엉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2,689,453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90517"/>
                  </a:ext>
                </a:extLst>
              </a:tr>
              <a:tr h="184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ko-KR" sz="7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홍탐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2,665,794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41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940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6D4FC156-4F0B-4B2C-80BB-9CF9F5DA4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964556"/>
              </p:ext>
            </p:extLst>
          </p:nvPr>
        </p:nvGraphicFramePr>
        <p:xfrm>
          <a:off x="400049" y="4431157"/>
          <a:ext cx="5143499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0D450597-AB0E-4738-9C83-5BD66DD63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668482"/>
              </p:ext>
            </p:extLst>
          </p:nvPr>
        </p:nvGraphicFramePr>
        <p:xfrm>
          <a:off x="442912" y="2226610"/>
          <a:ext cx="5057774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8113" y="1624198"/>
            <a:ext cx="8509955" cy="30933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03402" eaLnBrk="0" hangingPunct="0"/>
            <a:r>
              <a:rPr lang="ko-KR" altLang="en-US" sz="1292" b="1" dirty="0">
                <a:solidFill>
                  <a:prstClr val="white"/>
                </a:solidFill>
                <a:latin typeface="맑은 고딕"/>
                <a:ea typeface="맑은 고딕"/>
              </a:rPr>
              <a:t>재료사용 현황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08113" y="1933528"/>
            <a:ext cx="8507077" cy="4785762"/>
          </a:xfrm>
          <a:prstGeom prst="rect">
            <a:avLst/>
          </a:prstGeom>
          <a:noFill/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83077" tIns="84406" rIns="83077" bIns="43200"/>
          <a:lstStyle/>
          <a:p>
            <a:pPr defTabSz="830894">
              <a:spcBef>
                <a:spcPts val="1385"/>
              </a:spcBef>
              <a:buClr>
                <a:schemeClr val="tx1"/>
              </a:buClr>
            </a:pPr>
            <a:endParaRPr lang="en-GB" altLang="ko-KR" sz="1108" dirty="0">
              <a:latin typeface="+mn-ea"/>
            </a:endParaRPr>
          </a:p>
        </p:txBody>
      </p:sp>
      <p:sp>
        <p:nvSpPr>
          <p:cNvPr id="17" name="실행 단추: 돌아가기 16">
            <a:hlinkClick r:id="rId6" action="ppaction://hlinksldjump" highlightClick="1"/>
          </p:cNvPr>
          <p:cNvSpPr/>
          <p:nvPr/>
        </p:nvSpPr>
        <p:spPr>
          <a:xfrm>
            <a:off x="8693073" y="848000"/>
            <a:ext cx="317575" cy="288890"/>
          </a:xfrm>
          <a:prstGeom prst="actionButtonReturn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1BBCF37-4D9C-4D7A-AA7D-A10F98B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986224"/>
              </p:ext>
            </p:extLst>
          </p:nvPr>
        </p:nvGraphicFramePr>
        <p:xfrm>
          <a:off x="5967848" y="2122955"/>
          <a:ext cx="2596692" cy="22475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308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189020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075364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</a:tblGrid>
              <a:tr h="239245">
                <a:tc grid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사용량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20961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NO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재료명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사용량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(g)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E5005-1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50,864,287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E5005-1(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15,504,461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20422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E5007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11,340,377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12356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E4701(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8,321,388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E5008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3,280,632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SI4027K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1,774,344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266979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E4005-1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1,770,296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00418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E4005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1,596,725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437899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Q4020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1,269,928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880676"/>
                  </a:ext>
                </a:extLst>
              </a:tr>
              <a:tr h="15869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E4701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1,118,621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9151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67C96223-0CC1-4234-91FC-22569CBB2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128454"/>
              </p:ext>
            </p:extLst>
          </p:nvPr>
        </p:nvGraphicFramePr>
        <p:xfrm>
          <a:off x="5965523" y="4417091"/>
          <a:ext cx="2606977" cy="21890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42">
                  <a:extLst>
                    <a:ext uri="{9D8B030D-6E8A-4147-A177-3AD203B41FA5}">
                      <a16:colId xmlns:a16="http://schemas.microsoft.com/office/drawing/2014/main" val="1248021852"/>
                    </a:ext>
                  </a:extLst>
                </a:gridCol>
                <a:gridCol w="1201041">
                  <a:extLst>
                    <a:ext uri="{9D8B030D-6E8A-4147-A177-3AD203B41FA5}">
                      <a16:colId xmlns:a16="http://schemas.microsoft.com/office/drawing/2014/main" val="3384398615"/>
                    </a:ext>
                  </a:extLst>
                </a:gridCol>
                <a:gridCol w="1076794">
                  <a:extLst>
                    <a:ext uri="{9D8B030D-6E8A-4147-A177-3AD203B41FA5}">
                      <a16:colId xmlns:a16="http://schemas.microsoft.com/office/drawing/2014/main" val="4197350508"/>
                    </a:ext>
                  </a:extLst>
                </a:gridCol>
              </a:tblGrid>
              <a:tr h="223489">
                <a:tc grid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 금액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814242"/>
                  </a:ext>
                </a:extLst>
              </a:tr>
              <a:tr h="19386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NO</a:t>
                      </a: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재료명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사용금액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72711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E5005-1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165,308,933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4825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E5005-1(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51,939,945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829966"/>
                  </a:ext>
                </a:extLst>
              </a:tr>
              <a:tr h="17405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E5007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51,358,833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421284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E4701(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28,375,932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95021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F7008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26,011,154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233793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SI4027K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15,969,096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03929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E5008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14,959,683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019691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Q4020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13,270,752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48106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H-N7001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6,203,995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9051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F7001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6,115,718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41733"/>
                  </a:ext>
                </a:extLst>
              </a:tr>
            </a:tbl>
          </a:graphicData>
        </a:graphic>
      </p:graphicFrame>
      <p:sp>
        <p:nvSpPr>
          <p:cNvPr id="27" name="Rectangle 11">
            <a:extLst>
              <a:ext uri="{FF2B5EF4-FFF2-40B4-BE49-F238E27FC236}">
                <a16:creationId xmlns:a16="http://schemas.microsoft.com/office/drawing/2014/main" id="{C4CB6FCC-9844-407E-A507-7F7AE9E2F6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61776" y="1210512"/>
            <a:ext cx="8882224" cy="498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E5005-1 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가장 많은 재료 사용량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</a:p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E5005-1 </a:t>
            </a:r>
            <a:r>
              <a:rPr lang="ko-KR" altLang="en-US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 </a:t>
            </a:r>
            <a:r>
              <a:rPr lang="ko-KR" altLang="en-US" sz="1200" b="1" kern="0" dirty="0">
                <a:solidFill>
                  <a:srgbClr val="092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사용금액 기록</a:t>
            </a:r>
            <a:endParaRPr lang="en-US" altLang="ko-KR" sz="1200" b="1" kern="0" dirty="0">
              <a:solidFill>
                <a:srgbClr val="0920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844083">
              <a:defRPr/>
            </a:pPr>
            <a:endParaRPr lang="en-US" altLang="ko-KR" sz="1200" b="1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484526" y="2312329"/>
            <a:ext cx="305274" cy="1276286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28A4EF-7CA0-44D1-BB8D-2C7D07AC3C6E}"/>
              </a:ext>
            </a:extLst>
          </p:cNvPr>
          <p:cNvSpPr txBox="1"/>
          <p:nvPr/>
        </p:nvSpPr>
        <p:spPr>
          <a:xfrm>
            <a:off x="152400" y="768475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재료사용 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59A9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GROMMET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22CDF5-AF9C-4320-9EC2-2D2AE89FCEA0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387841" y="4483595"/>
            <a:ext cx="325630" cy="143030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675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6D4FC156-4F0B-4B2C-80BB-9CF9F5DA4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5711051"/>
              </p:ext>
            </p:extLst>
          </p:nvPr>
        </p:nvGraphicFramePr>
        <p:xfrm>
          <a:off x="400049" y="4364653"/>
          <a:ext cx="5143499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0D450597-AB0E-4738-9C83-5BD66DD63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2640835"/>
              </p:ext>
            </p:extLst>
          </p:nvPr>
        </p:nvGraphicFramePr>
        <p:xfrm>
          <a:off x="442912" y="1952743"/>
          <a:ext cx="5057774" cy="237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8113" y="1624198"/>
            <a:ext cx="8509955" cy="30933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03402" eaLnBrk="0" hangingPunct="0"/>
            <a:r>
              <a:rPr lang="ko-KR" altLang="en-US" sz="1292" b="1" dirty="0">
                <a:solidFill>
                  <a:prstClr val="white"/>
                </a:solidFill>
                <a:latin typeface="맑은 고딕"/>
                <a:ea typeface="맑은 고딕"/>
              </a:rPr>
              <a:t>재료사용 현황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08113" y="1933528"/>
            <a:ext cx="8507077" cy="4785762"/>
          </a:xfrm>
          <a:prstGeom prst="rect">
            <a:avLst/>
          </a:prstGeom>
          <a:noFill/>
          <a:ln w="9525" algn="ctr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</p:spPr>
        <p:txBody>
          <a:bodyPr lIns="83077" tIns="84406" rIns="83077" bIns="43200"/>
          <a:lstStyle/>
          <a:p>
            <a:pPr defTabSz="830894">
              <a:spcBef>
                <a:spcPts val="1385"/>
              </a:spcBef>
              <a:buClr>
                <a:schemeClr val="tx1"/>
              </a:buClr>
            </a:pPr>
            <a:endParaRPr lang="en-GB" altLang="ko-KR" sz="1108" dirty="0">
              <a:latin typeface="+mn-ea"/>
            </a:endParaRPr>
          </a:p>
        </p:txBody>
      </p:sp>
      <p:sp>
        <p:nvSpPr>
          <p:cNvPr id="17" name="실행 단추: 돌아가기 16">
            <a:hlinkClick r:id="rId6" action="ppaction://hlinksldjump" highlightClick="1"/>
          </p:cNvPr>
          <p:cNvSpPr/>
          <p:nvPr/>
        </p:nvSpPr>
        <p:spPr>
          <a:xfrm>
            <a:off x="8693073" y="848000"/>
            <a:ext cx="317575" cy="288890"/>
          </a:xfrm>
          <a:prstGeom prst="actionButtonReturn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1BBCF37-4D9C-4D7A-AA7D-A10F98B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748125"/>
              </p:ext>
            </p:extLst>
          </p:nvPr>
        </p:nvGraphicFramePr>
        <p:xfrm>
          <a:off x="5967848" y="2122955"/>
          <a:ext cx="2596692" cy="2195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308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189020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075364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</a:tblGrid>
              <a:tr h="23924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사용량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199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재료명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사용량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1796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4,661,809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SI5521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2,151,501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1548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1,650,000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1,512,671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1175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1,225,382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SI3510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1,212,275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266979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SI4020-2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1,186,548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00418"/>
                  </a:ext>
                </a:extLst>
              </a:tr>
              <a:tr h="1698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1,094,650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437899"/>
                  </a:ext>
                </a:extLst>
              </a:tr>
              <a:tr h="1339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SI3020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1,084,442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880676"/>
                  </a:ext>
                </a:extLst>
              </a:tr>
              <a:tr h="1586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1,036,779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69151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67C96223-0CC1-4234-91FC-22569CBB2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715448"/>
              </p:ext>
            </p:extLst>
          </p:nvPr>
        </p:nvGraphicFramePr>
        <p:xfrm>
          <a:off x="5965523" y="4417091"/>
          <a:ext cx="2606977" cy="2169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42">
                  <a:extLst>
                    <a:ext uri="{9D8B030D-6E8A-4147-A177-3AD203B41FA5}">
                      <a16:colId xmlns:a16="http://schemas.microsoft.com/office/drawing/2014/main" val="1248021852"/>
                    </a:ext>
                  </a:extLst>
                </a:gridCol>
                <a:gridCol w="1201041">
                  <a:extLst>
                    <a:ext uri="{9D8B030D-6E8A-4147-A177-3AD203B41FA5}">
                      <a16:colId xmlns:a16="http://schemas.microsoft.com/office/drawing/2014/main" val="3384398615"/>
                    </a:ext>
                  </a:extLst>
                </a:gridCol>
                <a:gridCol w="1076794">
                  <a:extLst>
                    <a:ext uri="{9D8B030D-6E8A-4147-A177-3AD203B41FA5}">
                      <a16:colId xmlns:a16="http://schemas.microsoft.com/office/drawing/2014/main" val="4197350508"/>
                    </a:ext>
                  </a:extLst>
                </a:gridCol>
              </a:tblGrid>
              <a:tr h="22348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사용 금액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814242"/>
                  </a:ext>
                </a:extLst>
              </a:tr>
              <a:tr h="1938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재료명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사용금액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72711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47,317,359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4825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SI5521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17,749,883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829966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14,850,000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421284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14,067,836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95021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SI4020-2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12,458,754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233793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11,028,442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403929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SI3020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10,681,750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019691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SI3510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10,243,722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48106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9,961,311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90517"/>
                  </a:ext>
                </a:extLst>
              </a:tr>
              <a:tr h="1661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SI4021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9,123,652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41733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342346" y="2105977"/>
            <a:ext cx="388253" cy="1538992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28A4EF-7CA0-44D1-BB8D-2C7D07AC3C6E}"/>
              </a:ext>
            </a:extLst>
          </p:cNvPr>
          <p:cNvSpPr txBox="1"/>
          <p:nvPr/>
        </p:nvSpPr>
        <p:spPr>
          <a:xfrm>
            <a:off x="152400" y="768475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3) 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재료사용 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66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SEAL</a:t>
            </a:r>
            <a:endParaRPr lang="ko-KR" altLang="en-US" b="1" dirty="0">
              <a:solidFill>
                <a:srgbClr val="0066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22CDF5-AF9C-4320-9EC2-2D2AE89FCEA0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  <a:endParaRPr lang="ko-KR" altLang="en-US" sz="2400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33F095-74D9-4BC2-9BC7-FD3D91C3AA3F}"/>
              </a:ext>
            </a:extLst>
          </p:cNvPr>
          <p:cNvSpPr/>
          <p:nvPr/>
        </p:nvSpPr>
        <p:spPr>
          <a:xfrm>
            <a:off x="1348072" y="4479829"/>
            <a:ext cx="388253" cy="1367572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§"/>
            </a:pPr>
            <a:endParaRPr lang="ko-KR" altLang="en-US" sz="1108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C4CB6FCC-9844-407E-A507-7F7AE9E2F6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61776" y="1167118"/>
            <a:ext cx="8882224" cy="498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4406" tIns="33231" rIns="84406" bIns="99692" numCol="1" anchor="t" anchorCtr="0" compatLnSpc="1">
            <a:prstTxWarp prst="textNoShape">
              <a:avLst/>
            </a:prstTxWarp>
          </a:bodyPr>
          <a:lstStyle/>
          <a:p>
            <a:pPr defTabSz="844083">
              <a:buFont typeface="Wingdings" pitchFamily="2" charset="2"/>
              <a:buChar char="Ø"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solidFill>
                  <a:schemeClr val="accent6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SI 4022 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</a:t>
            </a:r>
            <a:r>
              <a:rPr lang="ko-KR" altLang="en-US" sz="1200" b="1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b="1" kern="0" dirty="0">
                <a:solidFill>
                  <a:schemeClr val="accent6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가장 많은 재료 사용량을 기록</a:t>
            </a:r>
            <a:endParaRPr lang="en-US" altLang="ko-KR" sz="1200" b="1" kern="0" dirty="0">
              <a:solidFill>
                <a:schemeClr val="accent6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844083">
              <a:buFont typeface="Wingdings" pitchFamily="2" charset="2"/>
              <a:buChar char="Ø"/>
              <a:defRPr/>
            </a:pPr>
            <a:r>
              <a:rPr lang="ko-KR" altLang="en-US" sz="1200" b="1" kern="0" dirty="0">
                <a:solidFill>
                  <a:schemeClr val="accent6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b="1" kern="0" dirty="0">
                <a:solidFill>
                  <a:schemeClr val="accent6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SI 4022 </a:t>
            </a:r>
            <a:r>
              <a:rPr lang="ko-KR" altLang="en-US" sz="1200" b="1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</a:t>
            </a:r>
            <a:r>
              <a:rPr lang="ko-KR" altLang="en-US" sz="1200" b="1" kern="0" dirty="0">
                <a:solidFill>
                  <a:schemeClr val="accent6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가장 많은 사용금액을</a:t>
            </a:r>
            <a:r>
              <a:rPr lang="en-US" altLang="ko-KR" sz="1200" b="1" kern="0" dirty="0">
                <a:solidFill>
                  <a:schemeClr val="accent6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b="1" kern="0" dirty="0">
                <a:solidFill>
                  <a:schemeClr val="accent6">
                    <a:lumMod val="50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기록</a:t>
            </a:r>
            <a:endParaRPr lang="en-US" altLang="ko-KR" sz="1200" b="1" kern="0" dirty="0">
              <a:solidFill>
                <a:schemeClr val="accent6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844083">
              <a:buFont typeface="Wingdings" pitchFamily="2" charset="2"/>
              <a:buChar char="Ø"/>
              <a:defRPr/>
            </a:pPr>
            <a:endParaRPr lang="en-US" altLang="ko-KR" sz="1200" b="1" kern="0" dirty="0">
              <a:solidFill>
                <a:schemeClr val="accent6">
                  <a:lumMod val="50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544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81CDBAE-A4C9-44AA-8B50-D631C225DA75}"/>
              </a:ext>
            </a:extLst>
          </p:cNvPr>
          <p:cNvSpPr txBox="1"/>
          <p:nvPr/>
        </p:nvSpPr>
        <p:spPr>
          <a:xfrm>
            <a:off x="262595" y="753217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4) ITEM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별 작업 효율 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59A9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GROMMET</a:t>
            </a:r>
            <a:endParaRPr lang="ko-KR" altLang="en-US" b="1" dirty="0">
              <a:solidFill>
                <a:srgbClr val="0059A9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7D7DD54-F0E9-48D6-A9E8-D69D367C1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424410"/>
              </p:ext>
            </p:extLst>
          </p:nvPr>
        </p:nvGraphicFramePr>
        <p:xfrm>
          <a:off x="281643" y="1176205"/>
          <a:ext cx="8374411" cy="925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31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3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 작업시간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(min)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가동시간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(min)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 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SHOT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평균 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SHOT(</a:t>
                      </a: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日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40399"/>
                  </a:ext>
                </a:extLst>
              </a:tr>
              <a:tr h="5537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1,763,677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1,702,843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233,930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차트 30">
            <a:extLst>
              <a:ext uri="{FF2B5EF4-FFF2-40B4-BE49-F238E27FC236}">
                <a16:creationId xmlns:a16="http://schemas.microsoft.com/office/drawing/2014/main" id="{3348ED8A-D351-420A-9747-1DBE64E05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8267245"/>
              </p:ext>
            </p:extLst>
          </p:nvPr>
        </p:nvGraphicFramePr>
        <p:xfrm>
          <a:off x="342828" y="2203982"/>
          <a:ext cx="3967574" cy="2523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64555E6F-D3BB-4273-9B37-E41077B24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975098"/>
              </p:ext>
            </p:extLst>
          </p:nvPr>
        </p:nvGraphicFramePr>
        <p:xfrm>
          <a:off x="4667944" y="4799080"/>
          <a:ext cx="4009042" cy="1928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3053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835731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660258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</a:tblGrid>
              <a:tr h="278159">
                <a:tc gridSpan="3">
                  <a:txBody>
                    <a:bodyPr/>
                    <a:lstStyle/>
                    <a:p>
                      <a:pPr algn="ctr" rtl="0">
                        <a:defRPr sz="1862" b="0" i="0" u="none" strike="noStrike" kern="1200" spc="0" baseline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dirty="0" err="1">
                          <a:solidFill>
                            <a:schemeClr val="bg1"/>
                          </a:solidFill>
                          <a:effectLst/>
                        </a:rPr>
                        <a:t>비가동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</a:rPr>
                        <a:t>TOP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ko-KR" altLang="ko-KR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3009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품번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비가동시간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(min)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 9830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3,105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MV-DO650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ME-GO010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1,790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RG3 614836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1,760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NX4 N9080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1,678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4237226-2375-4FC5-8D31-81FC7186E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641338"/>
              </p:ext>
            </p:extLst>
          </p:nvPr>
        </p:nvGraphicFramePr>
        <p:xfrm>
          <a:off x="263705" y="4799083"/>
          <a:ext cx="4087129" cy="1928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045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871488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692596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</a:tblGrid>
              <a:tr h="274589">
                <a:tc gridSpan="3">
                  <a:txBody>
                    <a:bodyPr/>
                    <a:lstStyle/>
                    <a:p>
                      <a:pPr algn="ctr" rtl="0">
                        <a:defRPr sz="1862" b="0" i="0" u="none" strike="noStrike" kern="1200" spc="0" baseline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</a:rPr>
                        <a:t>작업시간 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</a:rPr>
                        <a:t>TOP 5</a:t>
                      </a:r>
                      <a:endParaRPr lang="ko-KR" altLang="ko-KR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3310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품번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작업시간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(min)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MX5-P6510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71,325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SP3-BS010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59,080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MQ4PG P4006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56,480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MX5D-P6210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53,672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 9830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45,495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19E00F9-9A64-474C-A015-439E4D402650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62595" y="2638424"/>
            <a:ext cx="4060023" cy="204668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673600" y="2638424"/>
            <a:ext cx="3982453" cy="204668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차트 29">
            <a:extLst>
              <a:ext uri="{FF2B5EF4-FFF2-40B4-BE49-F238E27FC236}">
                <a16:creationId xmlns:a16="http://schemas.microsoft.com/office/drawing/2014/main" id="{318CA863-A76D-4907-A037-5C708EC153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7252758"/>
              </p:ext>
            </p:extLst>
          </p:nvPr>
        </p:nvGraphicFramePr>
        <p:xfrm>
          <a:off x="4766166" y="2266443"/>
          <a:ext cx="3891770" cy="2523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91728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81CDBAE-A4C9-44AA-8B50-D631C225DA75}"/>
              </a:ext>
            </a:extLst>
          </p:cNvPr>
          <p:cNvSpPr txBox="1"/>
          <p:nvPr/>
        </p:nvSpPr>
        <p:spPr>
          <a:xfrm>
            <a:off x="262595" y="753217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4) ITEM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별 작업 효율 현황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en-US" altLang="ko-KR" b="1" dirty="0">
                <a:solidFill>
                  <a:srgbClr val="0066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SEAL</a:t>
            </a:r>
            <a:endParaRPr lang="ko-KR" altLang="en-US" b="1" dirty="0">
              <a:solidFill>
                <a:srgbClr val="0066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7D7DD54-F0E9-48D6-A9E8-D69D367C1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819438"/>
              </p:ext>
            </p:extLst>
          </p:nvPr>
        </p:nvGraphicFramePr>
        <p:xfrm>
          <a:off x="281643" y="1176205"/>
          <a:ext cx="8546539" cy="925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45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7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3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 작업시간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(min)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가동시간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(min)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 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SHOT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평균 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SHOT(</a:t>
                      </a:r>
                      <a:r>
                        <a:rPr lang="ko-KR" altLang="en-US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日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40399"/>
                  </a:ext>
                </a:extLst>
              </a:tr>
              <a:tr h="5537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655,563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648,400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95,126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차트 29">
            <a:extLst>
              <a:ext uri="{FF2B5EF4-FFF2-40B4-BE49-F238E27FC236}">
                <a16:creationId xmlns:a16="http://schemas.microsoft.com/office/drawing/2014/main" id="{318CA863-A76D-4907-A037-5C708EC153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5416633"/>
              </p:ext>
            </p:extLst>
          </p:nvPr>
        </p:nvGraphicFramePr>
        <p:xfrm>
          <a:off x="4913121" y="2275377"/>
          <a:ext cx="3915061" cy="2523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차트 30">
            <a:extLst>
              <a:ext uri="{FF2B5EF4-FFF2-40B4-BE49-F238E27FC236}">
                <a16:creationId xmlns:a16="http://schemas.microsoft.com/office/drawing/2014/main" id="{3348ED8A-D351-420A-9747-1DBE64E05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4232312"/>
              </p:ext>
            </p:extLst>
          </p:nvPr>
        </p:nvGraphicFramePr>
        <p:xfrm>
          <a:off x="342828" y="2203982"/>
          <a:ext cx="4219401" cy="2523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64555E6F-D3BB-4273-9B37-E41077B24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318643"/>
              </p:ext>
            </p:extLst>
          </p:nvPr>
        </p:nvGraphicFramePr>
        <p:xfrm>
          <a:off x="4816081" y="4799078"/>
          <a:ext cx="4033033" cy="17829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6123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846717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670193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</a:tblGrid>
              <a:tr h="254350">
                <a:tc gridSpan="3">
                  <a:txBody>
                    <a:bodyPr/>
                    <a:lstStyle/>
                    <a:p>
                      <a:pPr algn="ctr" rtl="0">
                        <a:defRPr sz="1862" b="0" i="0" u="none" strike="noStrike" kern="1200" spc="0" baseline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dirty="0" err="1">
                          <a:solidFill>
                            <a:schemeClr val="bg1"/>
                          </a:solidFill>
                          <a:effectLst/>
                        </a:rPr>
                        <a:t>비가동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</a:rPr>
                        <a:t>TOP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ko-KR" altLang="ko-KR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2786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품번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비가동시간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(min)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249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R600019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249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680449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249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680450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249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682622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249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680604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4237226-2375-4FC5-8D31-81FC7186E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744637"/>
              </p:ext>
            </p:extLst>
          </p:nvPr>
        </p:nvGraphicFramePr>
        <p:xfrm>
          <a:off x="263705" y="4799084"/>
          <a:ext cx="4346544" cy="1788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6244">
                  <a:extLst>
                    <a:ext uri="{9D8B030D-6E8A-4147-A177-3AD203B41FA5}">
                      <a16:colId xmlns:a16="http://schemas.microsoft.com/office/drawing/2014/main" val="3773229567"/>
                    </a:ext>
                  </a:extLst>
                </a:gridCol>
                <a:gridCol w="1990273">
                  <a:extLst>
                    <a:ext uri="{9D8B030D-6E8A-4147-A177-3AD203B41FA5}">
                      <a16:colId xmlns:a16="http://schemas.microsoft.com/office/drawing/2014/main" val="2731649463"/>
                    </a:ext>
                  </a:extLst>
                </a:gridCol>
                <a:gridCol w="1800027">
                  <a:extLst>
                    <a:ext uri="{9D8B030D-6E8A-4147-A177-3AD203B41FA5}">
                      <a16:colId xmlns:a16="http://schemas.microsoft.com/office/drawing/2014/main" val="2432535261"/>
                    </a:ext>
                  </a:extLst>
                </a:gridCol>
              </a:tblGrid>
              <a:tr h="242235">
                <a:tc gridSpan="3">
                  <a:txBody>
                    <a:bodyPr/>
                    <a:lstStyle/>
                    <a:p>
                      <a:pPr algn="ctr" rtl="0">
                        <a:defRPr sz="1862" b="0" i="0" u="none" strike="noStrike" kern="1200" spc="0" baseline="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effectLst/>
                        </a:rPr>
                        <a:t>작업시간 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</a:rPr>
                        <a:t>TOP 5</a:t>
                      </a:r>
                      <a:endParaRPr lang="ko-KR" altLang="ko-KR" sz="1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50767"/>
                  </a:ext>
                </a:extLst>
              </a:tr>
              <a:tr h="3083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품번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작업시간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(min)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245157"/>
                  </a:ext>
                </a:extLst>
              </a:tr>
              <a:tr h="252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R600070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39,590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0264"/>
                  </a:ext>
                </a:extLst>
              </a:tr>
              <a:tr h="246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685390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38,720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933547"/>
                  </a:ext>
                </a:extLst>
              </a:tr>
              <a:tr h="246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681114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34,630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65353"/>
                  </a:ext>
                </a:extLst>
              </a:tr>
              <a:tr h="246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R602252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29,712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60554"/>
                  </a:ext>
                </a:extLst>
              </a:tr>
              <a:tr h="246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92" marR="8792" marT="87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R600050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26,940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55446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19E00F9-9A64-474C-A015-439E4D402650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3. </a:t>
            </a:r>
            <a:r>
              <a:rPr lang="ko-KR" altLang="en-US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제품 생산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62596" y="2638424"/>
            <a:ext cx="4317718" cy="204668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821896" y="2638424"/>
            <a:ext cx="4006286" cy="204668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167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CEE986-3A1F-41BC-B76A-779900A91626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4.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검사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8ECA927-B29C-4597-AFA5-4F7B3AD11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457892"/>
              </p:ext>
            </p:extLst>
          </p:nvPr>
        </p:nvGraphicFramePr>
        <p:xfrm>
          <a:off x="151001" y="840579"/>
          <a:ext cx="8770259" cy="161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487">
                  <a:extLst>
                    <a:ext uri="{9D8B030D-6E8A-4147-A177-3AD203B41FA5}">
                      <a16:colId xmlns:a16="http://schemas.microsoft.com/office/drawing/2014/main" val="1225514693"/>
                    </a:ext>
                  </a:extLst>
                </a:gridCol>
                <a:gridCol w="1339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201">
                  <a:extLst>
                    <a:ext uri="{9D8B030D-6E8A-4147-A177-3AD203B41FA5}">
                      <a16:colId xmlns:a16="http://schemas.microsoft.com/office/drawing/2014/main" val="2677395903"/>
                    </a:ext>
                  </a:extLst>
                </a:gridCol>
                <a:gridCol w="1158719">
                  <a:extLst>
                    <a:ext uri="{9D8B030D-6E8A-4147-A177-3AD203B41FA5}">
                      <a16:colId xmlns:a16="http://schemas.microsoft.com/office/drawing/2014/main" val="4091583094"/>
                    </a:ext>
                  </a:extLst>
                </a:gridCol>
                <a:gridCol w="1318327">
                  <a:extLst>
                    <a:ext uri="{9D8B030D-6E8A-4147-A177-3AD203B41FA5}">
                      <a16:colId xmlns:a16="http://schemas.microsoft.com/office/drawing/2014/main" val="241900469"/>
                    </a:ext>
                  </a:extLst>
                </a:gridCol>
              </a:tblGrid>
              <a:tr h="313904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1)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사내 검사 현황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0128"/>
                  </a:ext>
                </a:extLst>
              </a:tr>
              <a:tr h="3205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 분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검사 품목 수량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검사 수량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합격 수량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불합격 수량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검사시간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(min)</a:t>
                      </a: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수량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시간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(hr)</a:t>
                      </a: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40399"/>
                  </a:ext>
                </a:extLst>
              </a:tr>
              <a:tr h="3534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GROMMET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1,312,359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1,309,009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3,350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180,515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436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유압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9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7,420,981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7,389,029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32,281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168,482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2,642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836618"/>
                  </a:ext>
                </a:extLst>
              </a:tr>
              <a:tr h="313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8,733,340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8,698,038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35,631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348,997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3,078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188556"/>
                  </a:ext>
                </a:extLst>
              </a:tr>
            </a:tbl>
          </a:graphicData>
        </a:graphic>
      </p:graphicFrame>
      <p:graphicFrame>
        <p:nvGraphicFramePr>
          <p:cNvPr id="11" name="차트 10"/>
          <p:cNvGraphicFramePr/>
          <p:nvPr>
            <p:extLst>
              <p:ext uri="{D42A27DB-BD31-4B8C-83A1-F6EECF244321}">
                <p14:modId xmlns:p14="http://schemas.microsoft.com/office/powerpoint/2010/main" val="1115046487"/>
              </p:ext>
            </p:extLst>
          </p:nvPr>
        </p:nvGraphicFramePr>
        <p:xfrm>
          <a:off x="114300" y="3026981"/>
          <a:ext cx="2770875" cy="3552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/>
          <p:cNvGraphicFramePr/>
          <p:nvPr>
            <p:extLst>
              <p:ext uri="{D42A27DB-BD31-4B8C-83A1-F6EECF244321}">
                <p14:modId xmlns:p14="http://schemas.microsoft.com/office/powerpoint/2010/main" val="4262818804"/>
              </p:ext>
            </p:extLst>
          </p:nvPr>
        </p:nvGraphicFramePr>
        <p:xfrm>
          <a:off x="3141278" y="3026980"/>
          <a:ext cx="2770875" cy="3552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차트 12"/>
          <p:cNvGraphicFramePr/>
          <p:nvPr>
            <p:extLst>
              <p:ext uri="{D42A27DB-BD31-4B8C-83A1-F6EECF244321}">
                <p14:modId xmlns:p14="http://schemas.microsoft.com/office/powerpoint/2010/main" val="1299859314"/>
              </p:ext>
            </p:extLst>
          </p:nvPr>
        </p:nvGraphicFramePr>
        <p:xfrm>
          <a:off x="6150386" y="3026980"/>
          <a:ext cx="2770875" cy="3552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55548" y="2657647"/>
            <a:ext cx="371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유압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/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그로멧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 검사 현황</a:t>
            </a:r>
          </a:p>
        </p:txBody>
      </p:sp>
    </p:spTree>
    <p:extLst>
      <p:ext uri="{BB962C8B-B14F-4D97-AF65-F5344CB8AC3E}">
        <p14:creationId xmlns:p14="http://schemas.microsoft.com/office/powerpoint/2010/main" val="3798468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CEE986-3A1F-41BC-B76A-779900A91626}"/>
              </a:ext>
            </a:extLst>
          </p:cNvPr>
          <p:cNvSpPr txBox="1"/>
          <p:nvPr/>
        </p:nvSpPr>
        <p:spPr>
          <a:xfrm>
            <a:off x="114300" y="17757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4. </a:t>
            </a:r>
            <a:r>
              <a:rPr lang="ko-KR" altLang="en-US" sz="24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검사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8ECA927-B29C-4597-AFA5-4F7B3AD11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866102"/>
              </p:ext>
            </p:extLst>
          </p:nvPr>
        </p:nvGraphicFramePr>
        <p:xfrm>
          <a:off x="151001" y="840579"/>
          <a:ext cx="8843370" cy="98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961">
                  <a:extLst>
                    <a:ext uri="{9D8B030D-6E8A-4147-A177-3AD203B41FA5}">
                      <a16:colId xmlns:a16="http://schemas.microsoft.com/office/drawing/2014/main" val="1225514693"/>
                    </a:ext>
                  </a:extLst>
                </a:gridCol>
                <a:gridCol w="1350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1548">
                  <a:extLst>
                    <a:ext uri="{9D8B030D-6E8A-4147-A177-3AD203B41FA5}">
                      <a16:colId xmlns:a16="http://schemas.microsoft.com/office/drawing/2014/main" val="2677395903"/>
                    </a:ext>
                  </a:extLst>
                </a:gridCol>
                <a:gridCol w="1168378">
                  <a:extLst>
                    <a:ext uri="{9D8B030D-6E8A-4147-A177-3AD203B41FA5}">
                      <a16:colId xmlns:a16="http://schemas.microsoft.com/office/drawing/2014/main" val="4091583094"/>
                    </a:ext>
                  </a:extLst>
                </a:gridCol>
                <a:gridCol w="1329317">
                  <a:extLst>
                    <a:ext uri="{9D8B030D-6E8A-4147-A177-3AD203B41FA5}">
                      <a16:colId xmlns:a16="http://schemas.microsoft.com/office/drawing/2014/main" val="241900469"/>
                    </a:ext>
                  </a:extLst>
                </a:gridCol>
              </a:tblGrid>
              <a:tr h="313904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1)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사내 검사 현황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0128"/>
                  </a:ext>
                </a:extLst>
              </a:tr>
              <a:tr h="3205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 분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검사 품목 수량</a:t>
                      </a:r>
                      <a:r>
                        <a:rPr lang="en-US" altLang="ko-KR" sz="1050" b="1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검사 수량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합격 수량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불합격 수량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(EA)</a:t>
                      </a: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검사시간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(min)</a:t>
                      </a: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수량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시간</a:t>
                      </a:r>
                      <a:r>
                        <a:rPr lang="en-US" altLang="ko-KR" sz="1100" b="1" baseline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(hr)</a:t>
                      </a:r>
                      <a:endParaRPr lang="en-US" altLang="ko-KR" sz="1100" b="1" baseline="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84406" marR="84406" marT="42203" marB="42203" anchor="ctr">
                    <a:lnL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40399"/>
                  </a:ext>
                </a:extLst>
              </a:tr>
              <a:tr h="3534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SEAL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46,983,318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46,931,091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52,239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184,267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15,298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차트 10"/>
          <p:cNvGraphicFramePr/>
          <p:nvPr>
            <p:extLst>
              <p:ext uri="{D42A27DB-BD31-4B8C-83A1-F6EECF244321}">
                <p14:modId xmlns:p14="http://schemas.microsoft.com/office/powerpoint/2010/main" val="1026393311"/>
              </p:ext>
            </p:extLst>
          </p:nvPr>
        </p:nvGraphicFramePr>
        <p:xfrm>
          <a:off x="114300" y="3026981"/>
          <a:ext cx="2770875" cy="3552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/>
          <p:cNvGraphicFramePr/>
          <p:nvPr>
            <p:extLst>
              <p:ext uri="{D42A27DB-BD31-4B8C-83A1-F6EECF244321}">
                <p14:modId xmlns:p14="http://schemas.microsoft.com/office/powerpoint/2010/main" val="2680566956"/>
              </p:ext>
            </p:extLst>
          </p:nvPr>
        </p:nvGraphicFramePr>
        <p:xfrm>
          <a:off x="3141278" y="3026980"/>
          <a:ext cx="2770875" cy="3552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차트 12"/>
          <p:cNvGraphicFramePr/>
          <p:nvPr>
            <p:extLst>
              <p:ext uri="{D42A27DB-BD31-4B8C-83A1-F6EECF244321}">
                <p14:modId xmlns:p14="http://schemas.microsoft.com/office/powerpoint/2010/main" val="4230325441"/>
              </p:ext>
            </p:extLst>
          </p:nvPr>
        </p:nvGraphicFramePr>
        <p:xfrm>
          <a:off x="6150386" y="3026980"/>
          <a:ext cx="2770875" cy="3552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55548" y="2657647"/>
            <a:ext cx="371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SEAL</a:t>
            </a:r>
            <a:r>
              <a:rPr lang="ko-KR" altLang="en-US" sz="1800" b="1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검사 현황</a:t>
            </a:r>
          </a:p>
        </p:txBody>
      </p:sp>
    </p:spTree>
    <p:extLst>
      <p:ext uri="{BB962C8B-B14F-4D97-AF65-F5344CB8AC3E}">
        <p14:creationId xmlns:p14="http://schemas.microsoft.com/office/powerpoint/2010/main" val="6650351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8os3D8NUSvlO1cp7D2Rw"/>
</p:tagLst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31586</TotalTime>
  <Words>2345</Words>
  <Application>Microsoft Office PowerPoint</Application>
  <PresentationFormat>화면 슬라이드 쇼(4:3)</PresentationFormat>
  <Paragraphs>1292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맑은 고딕</vt:lpstr>
      <vt:lpstr>현대하모니 B</vt:lpstr>
      <vt:lpstr>현대하모니 L</vt:lpstr>
      <vt:lpstr>현대하모니 M</vt:lpstr>
      <vt:lpstr>Arial</vt:lpstr>
      <vt:lpstr>Calibri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KANG</dc:creator>
  <cp:lastModifiedBy>PC</cp:lastModifiedBy>
  <cp:revision>1982</cp:revision>
  <cp:lastPrinted>2026-01-08T01:28:15Z</cp:lastPrinted>
  <dcterms:created xsi:type="dcterms:W3CDTF">2018-10-23T23:52:46Z</dcterms:created>
  <dcterms:modified xsi:type="dcterms:W3CDTF">2026-09-29T23:42:28Z</dcterms:modified>
</cp:coreProperties>
</file>